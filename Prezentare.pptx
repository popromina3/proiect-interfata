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69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3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8FE0913-8933-D2D9-0D18-0EEC26E38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84F441F-A41A-C369-BADB-71B86DF34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E34B6FC-2626-5592-9B15-A0BA8E30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166-368A-4745-82FF-083419DDA714}" type="datetimeFigureOut">
              <a:rPr lang="ro-RO" smtClean="0"/>
              <a:t>21.01.2025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BD7995A1-ADC7-CCE8-9E30-2320BE5A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1CD2DEB1-EBAC-6C9D-9035-B6CC63989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BCE4-B58B-45F0-8CCF-905E584F21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02937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1300E2F-908B-5B31-F9A4-9F40AD61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67FDB88-D324-EEDB-96BF-5DC428135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71FA600-2BC1-7863-F3C1-3B299F030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166-368A-4745-82FF-083419DDA714}" type="datetimeFigureOut">
              <a:rPr lang="ro-RO" smtClean="0"/>
              <a:t>21.01.2025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25DE964-59C6-8CF4-E5E6-8F09BA55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35C011B-8F2B-E021-6CBE-72A036903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BCE4-B58B-45F0-8CCF-905E584F21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84853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9E69FD7-A74E-5672-A848-416CB8E0A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B8A0C20E-75F4-0253-7CC2-4B70EA1DB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F2E9206-DBD3-CF7A-2205-3AC7D7E9E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166-368A-4745-82FF-083419DDA714}" type="datetimeFigureOut">
              <a:rPr lang="ro-RO" smtClean="0"/>
              <a:t>21.01.2025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25C9B81-C706-E621-23C1-0955C4AC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58C0BAA-7934-8545-D09C-2D68BF0D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BCE4-B58B-45F0-8CCF-905E584F21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53643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46D442C-CCBF-CBE4-01FB-2B0AE3988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C3159A5-39D2-2463-B90D-5CC151407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248B4BE1-CC7F-FCE6-7852-584B3FD09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142E35E3-F00F-28E0-1107-3F6872563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166-368A-4745-82FF-083419DDA714}" type="datetimeFigureOut">
              <a:rPr lang="ro-RO" smtClean="0"/>
              <a:t>21.01.2025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8706BE8-4526-8A26-958B-58D84302C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4A0D813B-F465-649B-4997-5B88F7819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BCE4-B58B-45F0-8CCF-905E584F21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21953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A684002-AF2D-8142-587D-28EA1942D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7259C3C-907C-BBCA-22DA-C6A5F1C7E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211EE401-511B-33C9-0AEE-C7C29D063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975FF162-EFA0-CA06-ADE6-69C016467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366A036F-0AE7-ED55-A02C-57C2E99D97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093F3A8B-3A91-4630-C6A2-C74264DB9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166-368A-4745-82FF-083419DDA714}" type="datetimeFigureOut">
              <a:rPr lang="ro-RO" smtClean="0"/>
              <a:t>21.01.2025</a:t>
            </a:fld>
            <a:endParaRPr lang="ro-RO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E9B8A4BD-4FF1-E4CF-E29E-FC268BD3F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D547CF7A-5B9D-C403-735E-9E2E0A0D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BCE4-B58B-45F0-8CCF-905E584F21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51388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10A2315-E628-B0F8-FD07-651C79FF7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ABE72033-7DB2-EF49-30D5-D8ABF5590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166-368A-4745-82FF-083419DDA714}" type="datetimeFigureOut">
              <a:rPr lang="ro-RO" smtClean="0"/>
              <a:t>21.01.2025</a:t>
            </a:fld>
            <a:endParaRPr lang="ro-RO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E511A2A9-8CC0-5C57-EE5C-378C539D4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1BC7E82B-1E96-5F9F-9613-3ACCD9A08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BCE4-B58B-45F0-8CCF-905E584F21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93297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5914A3D5-7B3F-FC3F-326D-969E2D61F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166-368A-4745-82FF-083419DDA714}" type="datetimeFigureOut">
              <a:rPr lang="ro-RO" smtClean="0"/>
              <a:t>21.01.2025</a:t>
            </a:fld>
            <a:endParaRPr lang="ro-RO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ABF9682E-41A6-3A86-0FD8-E639CA488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5491BA16-1F6B-6308-FCBC-767BE9A8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BCE4-B58B-45F0-8CCF-905E584F21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0371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3B99853-44DB-5547-1D34-C0A941EF6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68F324F-0CA0-F534-1C35-F6ACF44ED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D6CE8F4D-C229-A9F3-2F49-275E1F77A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46500018-6BFB-D33E-38D2-3E3D625B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166-368A-4745-82FF-083419DDA714}" type="datetimeFigureOut">
              <a:rPr lang="ro-RO" smtClean="0"/>
              <a:t>21.01.2025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F594B6B3-026F-1AC7-AAF0-BA4DDF146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436BC9D-05D1-3BE4-CB54-FED67100A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BCE4-B58B-45F0-8CCF-905E584F21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79257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2263641-EE5A-5D18-EEF2-6BE96DADE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B33294E0-0717-22CA-73AB-8B7B721DED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DE8C2A1B-B438-2B39-92EA-7D77D647C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F838395-E7AE-4CBB-720F-60E376E67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166-368A-4745-82FF-083419DDA714}" type="datetimeFigureOut">
              <a:rPr lang="ro-RO" smtClean="0"/>
              <a:t>21.01.2025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E624EA2-DD14-E091-3273-BF170ECDD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E7B440B7-B28A-FF2B-3CC4-AAEB2070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BCE4-B58B-45F0-8CCF-905E584F21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20678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2F871F1-5443-2903-EC03-6E94DAE0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842F786-9CF2-27F2-21BF-FED71EF21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E656EE6-97BC-D904-6FE1-3481C5BC3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166-368A-4745-82FF-083419DDA714}" type="datetimeFigureOut">
              <a:rPr lang="ro-RO" smtClean="0"/>
              <a:t>21.01.2025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B61FFFD9-2849-FF3F-2278-69A218CA2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7B97ECC-789B-924B-EB86-471A6B7BA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BCE4-B58B-45F0-8CCF-905E584F21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76514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EB24BF79-5F7D-475A-FC98-78CE8E007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955AC8F6-C8DB-F47F-0608-13C3B4865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A2868FF7-ACD6-9853-92A9-454B5A18D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28166-368A-4745-82FF-083419DDA714}" type="datetimeFigureOut">
              <a:rPr lang="ro-RO" smtClean="0"/>
              <a:t>21.01.2025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BBF7A225-9C8A-B906-ECA3-8721B302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8BDC99C2-3553-BEDE-6A1E-6BECD64CA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9BCE4-B58B-45F0-8CCF-905E584F21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7854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FB95859D-714E-FF75-2AA3-79E82BEC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5CE9709-6C51-32E1-E4F3-C6D6F8365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8766394-9F81-16AD-C6FF-4810FB4E93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28166-368A-4745-82FF-083419DDA714}" type="datetimeFigureOut">
              <a:rPr lang="ro-RO" smtClean="0"/>
              <a:t>21.01.2025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DE7B3735-8C7C-E637-F71B-6F23697E8C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FB9FC20C-C5D8-268A-124F-DBEB03D6A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9BCE4-B58B-45F0-8CCF-905E584F21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91931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ce.utcluj.ro/igac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ael.utcluj.ro/beta/?page_id=357&amp;lang=r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ine 4" descr="O imagine care conține verde, lumină reflectorului&#10;&#10;Descriere generată automat">
            <a:extLst>
              <a:ext uri="{FF2B5EF4-FFF2-40B4-BE49-F238E27FC236}">
                <a16:creationId xmlns:a16="http://schemas.microsoft.com/office/drawing/2014/main" id="{0F527D04-79A8-5893-BEB4-AE6C695D8B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1" b="216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1BDEC7DF-1D2C-1DE3-F29C-90DFC6195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4128" y="1753733"/>
            <a:ext cx="9029700" cy="2230438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FFFF"/>
                </a:solidFill>
              </a:rPr>
              <a:t>Circuit RC </a:t>
            </a:r>
            <a:br>
              <a:rPr lang="en-GB" b="1" dirty="0">
                <a:solidFill>
                  <a:srgbClr val="FFFFFF"/>
                </a:solidFill>
              </a:rPr>
            </a:br>
            <a:r>
              <a:rPr lang="en-GB" b="1" dirty="0">
                <a:solidFill>
                  <a:srgbClr val="FFFFFF"/>
                </a:solidFill>
              </a:rPr>
              <a:t>FILTRU TRECE SUS</a:t>
            </a:r>
            <a:endParaRPr lang="ro-RO" b="1" dirty="0">
              <a:solidFill>
                <a:srgbClr val="FFFFFF"/>
              </a:solidFill>
            </a:endParaRP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0FE2199A-B5CE-B865-0AA2-D4962A539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139" y="4159404"/>
            <a:ext cx="10008392" cy="1669896"/>
          </a:xfrm>
        </p:spPr>
        <p:txBody>
          <a:bodyPr>
            <a:normAutofit fontScale="92500" lnSpcReduction="10000"/>
          </a:bodyPr>
          <a:lstStyle/>
          <a:p>
            <a:pPr defTabSz="1007943" eaLnBrk="1" fontAlgn="auto" hangingPunct="1">
              <a:lnSpc>
                <a:spcPct val="93000"/>
              </a:lnSpc>
              <a:spcBef>
                <a:spcPts val="1102"/>
              </a:spcBef>
              <a:spcAft>
                <a:spcPts val="0"/>
              </a:spcAft>
              <a:buFontTx/>
              <a:buNone/>
              <a:tabLst>
                <a:tab pos="0" algn="l"/>
                <a:tab pos="112713" algn="l"/>
                <a:tab pos="569913" algn="l"/>
                <a:tab pos="1027113" algn="l"/>
                <a:tab pos="1484313" algn="l"/>
                <a:tab pos="1941513" algn="l"/>
                <a:tab pos="2398713" algn="l"/>
                <a:tab pos="2855913" algn="l"/>
                <a:tab pos="3313113" algn="l"/>
                <a:tab pos="3770313" algn="l"/>
                <a:tab pos="4227513" algn="l"/>
                <a:tab pos="4684713" algn="l"/>
                <a:tab pos="5141913" algn="l"/>
                <a:tab pos="5599113" algn="l"/>
                <a:tab pos="6056313" algn="l"/>
                <a:tab pos="6513513" algn="l"/>
                <a:tab pos="6970713" algn="l"/>
                <a:tab pos="7427913" algn="l"/>
                <a:tab pos="7885113" algn="l"/>
                <a:tab pos="8342313" algn="l"/>
                <a:tab pos="8799513" algn="l"/>
              </a:tabLst>
              <a:defRPr/>
            </a:pPr>
            <a:r>
              <a:rPr lang="en-US" altLang="en-US" sz="2400" dirty="0">
                <a:solidFill>
                  <a:schemeClr val="tx1"/>
                </a:solidFill>
                <a:latin typeface="Tw Cen MT" panose="020B0602020104020603" pitchFamily="34" charset="-18"/>
              </a:rPr>
              <a:t> AUTOR:</a:t>
            </a:r>
            <a:r>
              <a:rPr lang="en-US" altLang="en-US" dirty="0">
                <a:latin typeface="Tw Cen MT" panose="020B0602020104020603" pitchFamily="34" charset="-18"/>
              </a:rPr>
              <a:t> Pop Romina</a:t>
            </a:r>
          </a:p>
          <a:p>
            <a:pPr defTabSz="1007943" eaLnBrk="1" fontAlgn="auto" hangingPunct="1">
              <a:lnSpc>
                <a:spcPct val="93000"/>
              </a:lnSpc>
              <a:spcBef>
                <a:spcPts val="1102"/>
              </a:spcBef>
              <a:spcAft>
                <a:spcPts val="0"/>
              </a:spcAft>
              <a:buFontTx/>
              <a:buNone/>
              <a:tabLst>
                <a:tab pos="0" algn="l"/>
                <a:tab pos="112713" algn="l"/>
                <a:tab pos="569913" algn="l"/>
                <a:tab pos="1027113" algn="l"/>
                <a:tab pos="1484313" algn="l"/>
                <a:tab pos="1941513" algn="l"/>
                <a:tab pos="2398713" algn="l"/>
                <a:tab pos="2855913" algn="l"/>
                <a:tab pos="3313113" algn="l"/>
                <a:tab pos="3770313" algn="l"/>
                <a:tab pos="4227513" algn="l"/>
                <a:tab pos="4684713" algn="l"/>
                <a:tab pos="5141913" algn="l"/>
                <a:tab pos="5599113" algn="l"/>
                <a:tab pos="6056313" algn="l"/>
                <a:tab pos="6513513" algn="l"/>
                <a:tab pos="6970713" algn="l"/>
                <a:tab pos="7427913" algn="l"/>
                <a:tab pos="7885113" algn="l"/>
                <a:tab pos="8342313" algn="l"/>
                <a:tab pos="8799513" algn="l"/>
              </a:tabLst>
              <a:defRPr/>
            </a:pPr>
            <a:r>
              <a:rPr lang="en-US" altLang="en-US" sz="2400" dirty="0">
                <a:solidFill>
                  <a:schemeClr val="tx1"/>
                </a:solidFill>
                <a:latin typeface="Tw Cen MT" panose="020B0602020104020603" pitchFamily="34" charset="-18"/>
              </a:rPr>
              <a:t>      Grupa 2521</a:t>
            </a:r>
          </a:p>
          <a:p>
            <a:pPr defTabSz="1007943" eaLnBrk="1" fontAlgn="auto" hangingPunct="1">
              <a:lnSpc>
                <a:spcPct val="93000"/>
              </a:lnSpc>
              <a:spcBef>
                <a:spcPts val="1102"/>
              </a:spcBef>
              <a:spcAft>
                <a:spcPts val="0"/>
              </a:spcAft>
              <a:buFontTx/>
              <a:buNone/>
              <a:tabLst>
                <a:tab pos="0" algn="l"/>
                <a:tab pos="112713" algn="l"/>
                <a:tab pos="569913" algn="l"/>
                <a:tab pos="1027113" algn="l"/>
                <a:tab pos="1484313" algn="l"/>
                <a:tab pos="1941513" algn="l"/>
                <a:tab pos="2398713" algn="l"/>
                <a:tab pos="2855913" algn="l"/>
                <a:tab pos="3313113" algn="l"/>
                <a:tab pos="3770313" algn="l"/>
                <a:tab pos="4227513" algn="l"/>
                <a:tab pos="4684713" algn="l"/>
                <a:tab pos="5141913" algn="l"/>
                <a:tab pos="5599113" algn="l"/>
                <a:tab pos="6056313" algn="l"/>
                <a:tab pos="6513513" algn="l"/>
                <a:tab pos="6970713" algn="l"/>
                <a:tab pos="7427913" algn="l"/>
                <a:tab pos="7885113" algn="l"/>
                <a:tab pos="8342313" algn="l"/>
                <a:tab pos="8799513" algn="l"/>
              </a:tabLst>
              <a:defRPr/>
            </a:pPr>
            <a:r>
              <a:rPr lang="en-US" altLang="en-US" sz="2400" dirty="0">
                <a:solidFill>
                  <a:schemeClr val="tx1"/>
                </a:solidFill>
                <a:latin typeface="Tw Cen MT" panose="020B0602020104020603" pitchFamily="34" charset="-18"/>
              </a:rPr>
              <a:t>     Seria B</a:t>
            </a:r>
          </a:p>
          <a:p>
            <a:pPr defTabSz="1007943" eaLnBrk="1" fontAlgn="auto" hangingPunct="1">
              <a:lnSpc>
                <a:spcPct val="93000"/>
              </a:lnSpc>
              <a:spcBef>
                <a:spcPts val="1102"/>
              </a:spcBef>
              <a:spcAft>
                <a:spcPts val="0"/>
              </a:spcAft>
              <a:buFontTx/>
              <a:buNone/>
              <a:tabLst>
                <a:tab pos="0" algn="l"/>
                <a:tab pos="112713" algn="l"/>
                <a:tab pos="569913" algn="l"/>
                <a:tab pos="1027113" algn="l"/>
                <a:tab pos="1484313" algn="l"/>
                <a:tab pos="1941513" algn="l"/>
                <a:tab pos="2398713" algn="l"/>
                <a:tab pos="2855913" algn="l"/>
                <a:tab pos="3313113" algn="l"/>
                <a:tab pos="3770313" algn="l"/>
                <a:tab pos="4227513" algn="l"/>
                <a:tab pos="4684713" algn="l"/>
                <a:tab pos="5141913" algn="l"/>
                <a:tab pos="5599113" algn="l"/>
                <a:tab pos="6056313" algn="l"/>
                <a:tab pos="6513513" algn="l"/>
                <a:tab pos="6970713" algn="l"/>
                <a:tab pos="7427913" algn="l"/>
                <a:tab pos="7885113" algn="l"/>
                <a:tab pos="8342313" algn="l"/>
                <a:tab pos="8799513" algn="l"/>
              </a:tabLst>
              <a:defRPr/>
            </a:pPr>
            <a:r>
              <a:rPr lang="en-US" altLang="en-US" sz="2400" dirty="0" err="1">
                <a:solidFill>
                  <a:schemeClr val="tx1"/>
                </a:solidFill>
                <a:latin typeface="Tw Cen MT" panose="020B0602020104020603" pitchFamily="34" charset="-18"/>
              </a:rPr>
              <a:t>Profesor</a:t>
            </a:r>
            <a:r>
              <a:rPr lang="en-US" altLang="en-US" sz="2400" dirty="0">
                <a:solidFill>
                  <a:schemeClr val="tx1"/>
                </a:solidFill>
                <a:latin typeface="Tw Cen MT" panose="020B0602020104020603" pitchFamily="34" charset="-18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Tw Cen MT" panose="020B0602020104020603" pitchFamily="34" charset="-18"/>
              </a:rPr>
              <a:t>Indrumator</a:t>
            </a:r>
            <a:r>
              <a:rPr lang="en-US" altLang="en-US" sz="2400" dirty="0">
                <a:solidFill>
                  <a:schemeClr val="tx1"/>
                </a:solidFill>
                <a:latin typeface="Tw Cen MT" panose="020B0602020104020603" pitchFamily="34" charset="-18"/>
              </a:rPr>
              <a:t>: </a:t>
            </a:r>
            <a:r>
              <a:rPr lang="en-US" altLang="en-US" sz="2400" dirty="0" err="1">
                <a:solidFill>
                  <a:schemeClr val="tx1"/>
                </a:solidFill>
                <a:latin typeface="Tw Cen MT" panose="020B0602020104020603" pitchFamily="34" charset="-18"/>
              </a:rPr>
              <a:t>Dr.Ing</a:t>
            </a:r>
            <a:r>
              <a:rPr lang="en-US" altLang="en-US" sz="2400" dirty="0">
                <a:solidFill>
                  <a:schemeClr val="tx1"/>
                </a:solidFill>
                <a:latin typeface="Tw Cen MT" panose="020B0602020104020603" pitchFamily="34" charset="-18"/>
              </a:rPr>
              <a:t>. Adrian Taut</a:t>
            </a:r>
            <a:endParaRPr lang="ro-RO" dirty="0">
              <a:solidFill>
                <a:srgbClr val="FFFFFF"/>
              </a:solidFill>
              <a:latin typeface="Tw Cen MT" panose="020B0602020104020603" pitchFamily="34" charset="-18"/>
            </a:endParaRPr>
          </a:p>
        </p:txBody>
      </p:sp>
      <p:pic>
        <p:nvPicPr>
          <p:cNvPr id="6" name="Picture 11" descr="Imagini pentru logo universitatea tehnica cluj">
            <a:extLst>
              <a:ext uri="{FF2B5EF4-FFF2-40B4-BE49-F238E27FC236}">
                <a16:creationId xmlns:a16="http://schemas.microsoft.com/office/drawing/2014/main" id="{BC01B47E-74C1-3F41-07FB-ABD01C4FB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907" y="66675"/>
            <a:ext cx="2430915" cy="1762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2411A049-1C02-40BB-FEDC-B8BE6E8D7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7021" y="66675"/>
            <a:ext cx="2430915" cy="1762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5348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0155FE-0F81-D479-AB00-748C0D95E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976646-2E1D-7480-B57F-E8CBAB554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ine 4" descr="O imagine care conține verde, lumină reflectorului&#10;&#10;Descriere generată automat">
            <a:extLst>
              <a:ext uri="{FF2B5EF4-FFF2-40B4-BE49-F238E27FC236}">
                <a16:creationId xmlns:a16="http://schemas.microsoft.com/office/drawing/2014/main" id="{0A681B11-96E7-2DD4-F935-FDF78238AD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1" b="216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68F6F81F-3DF7-7066-DE0B-4C79AE67C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874" y="850219"/>
            <a:ext cx="3537858" cy="575810"/>
          </a:xfrm>
        </p:spPr>
        <p:txBody>
          <a:bodyPr>
            <a:noAutofit/>
          </a:bodyPr>
          <a:lstStyle/>
          <a:p>
            <a:r>
              <a:rPr lang="en-GB" sz="4000" dirty="0" err="1">
                <a:solidFill>
                  <a:srgbClr val="FFFFFF"/>
                </a:solidFill>
              </a:rPr>
              <a:t>Definitie</a:t>
            </a:r>
            <a:r>
              <a:rPr lang="en-GB" sz="4000" dirty="0">
                <a:solidFill>
                  <a:srgbClr val="FFFFFF"/>
                </a:solidFill>
              </a:rPr>
              <a:t> 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10C0D5E3-8EEA-971F-BC5E-8B6654691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9074" y="567118"/>
            <a:ext cx="7645853" cy="2211801"/>
          </a:xfrm>
        </p:spPr>
        <p:txBody>
          <a:bodyPr>
            <a:normAutofit/>
          </a:bodyPr>
          <a:lstStyle/>
          <a:p>
            <a:pPr defTabSz="1007943" eaLnBrk="1" fontAlgn="auto" hangingPunct="1">
              <a:lnSpc>
                <a:spcPct val="93000"/>
              </a:lnSpc>
              <a:spcBef>
                <a:spcPts val="1102"/>
              </a:spcBef>
              <a:spcAft>
                <a:spcPts val="0"/>
              </a:spcAft>
              <a:buFontTx/>
              <a:buNone/>
              <a:tabLst>
                <a:tab pos="0" algn="l"/>
                <a:tab pos="112713" algn="l"/>
                <a:tab pos="569913" algn="l"/>
                <a:tab pos="1027113" algn="l"/>
                <a:tab pos="1484313" algn="l"/>
                <a:tab pos="1941513" algn="l"/>
                <a:tab pos="2398713" algn="l"/>
                <a:tab pos="2855913" algn="l"/>
                <a:tab pos="3313113" algn="l"/>
                <a:tab pos="3770313" algn="l"/>
                <a:tab pos="4227513" algn="l"/>
                <a:tab pos="4684713" algn="l"/>
                <a:tab pos="5141913" algn="l"/>
                <a:tab pos="5599113" algn="l"/>
                <a:tab pos="6056313" algn="l"/>
                <a:tab pos="6513513" algn="l"/>
                <a:tab pos="6970713" algn="l"/>
                <a:tab pos="7427913" algn="l"/>
                <a:tab pos="7885113" algn="l"/>
                <a:tab pos="8342313" algn="l"/>
                <a:tab pos="8799513" algn="l"/>
              </a:tabLst>
              <a:defRPr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o-RO" dirty="0"/>
              <a:t>Un </a:t>
            </a:r>
            <a:r>
              <a:rPr lang="ro-RO" b="1" dirty="0"/>
              <a:t>filtru „trece-sus”</a:t>
            </a:r>
            <a:r>
              <a:rPr lang="ro-RO" dirty="0"/>
              <a:t> este un circuit care permite trecerea semnalelor cu frecvențe mai mari decât o anumită valoare, denumită </a:t>
            </a:r>
            <a:r>
              <a:rPr lang="ro-RO" b="1" dirty="0"/>
              <a:t>frecvență de tăiere</a:t>
            </a:r>
            <a:r>
              <a:rPr lang="ro-RO" dirty="0"/>
              <a:t>, cu o atenuare minimă sau nesemnificativă. În schimb, semnalele cu frecvențe mai mici decât frecvența de tăiere sunt puternic atenuate.</a:t>
            </a:r>
            <a:endParaRPr lang="ro-RO" dirty="0">
              <a:solidFill>
                <a:srgbClr val="FFFFFF"/>
              </a:solidFill>
            </a:endParaRPr>
          </a:p>
        </p:txBody>
      </p:sp>
      <p:pic>
        <p:nvPicPr>
          <p:cNvPr id="4" name="Picture 6" descr="https://scontent-otp1-1.xx.fbcdn.net/v/t1.15752-9/49949198_762100324146934_2908420594355666944_n.png?_nc_cat=101&amp;_nc_ht=scontent-otp1-1.xx&amp;oh=76db74582caba15a7469bea75b6a5dcb&amp;oe=5CC3CB6F">
            <a:extLst>
              <a:ext uri="{FF2B5EF4-FFF2-40B4-BE49-F238E27FC236}">
                <a16:creationId xmlns:a16="http://schemas.microsoft.com/office/drawing/2014/main" id="{22DA81F7-82D1-F441-7D1A-EDFAD03B2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932" y="1510507"/>
            <a:ext cx="3352800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setăText 7">
            <a:extLst>
              <a:ext uri="{FF2B5EF4-FFF2-40B4-BE49-F238E27FC236}">
                <a16:creationId xmlns:a16="http://schemas.microsoft.com/office/drawing/2014/main" id="{FE9F82FB-68BA-E548-27EB-FCEFE1A565F5}"/>
              </a:ext>
            </a:extLst>
          </p:cNvPr>
          <p:cNvSpPr txBox="1"/>
          <p:nvPr/>
        </p:nvSpPr>
        <p:spPr>
          <a:xfrm>
            <a:off x="1201739" y="3707606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err="1"/>
              <a:t>Formule</a:t>
            </a:r>
            <a:r>
              <a:rPr lang="en-GB" sz="3200" dirty="0"/>
              <a:t>: </a:t>
            </a:r>
            <a:endParaRPr lang="ro-RO" sz="3200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EF6FE58-1F02-0AB9-D6C0-E7EF6B86E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593" y="4357234"/>
            <a:ext cx="1786732" cy="1279072"/>
          </a:xfrm>
          <a:prstGeom prst="rect">
            <a:avLst/>
          </a:prstGeom>
          <a:solidFill>
            <a:schemeClr val="tx1">
              <a:lumMod val="65000"/>
            </a:schemeClr>
          </a:solidFill>
          <a:ln w="6480">
            <a:solidFill>
              <a:schemeClr val="bg2">
                <a:lumMod val="75000"/>
                <a:lumOff val="2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3CFB8C9C-E82C-E0F0-6856-8DEFA6BD1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087" y="4624235"/>
            <a:ext cx="2569028" cy="949251"/>
          </a:xfrm>
          <a:prstGeom prst="rect">
            <a:avLst/>
          </a:prstGeom>
          <a:solidFill>
            <a:schemeClr val="tx1">
              <a:lumMod val="65000"/>
            </a:schemeClr>
          </a:solidFill>
          <a:ln w="6480">
            <a:solidFill>
              <a:schemeClr val="bg2">
                <a:lumMod val="75000"/>
                <a:lumOff val="2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4217B58C-6614-C79A-03C2-86D660270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0296" y="3316520"/>
            <a:ext cx="2705100" cy="1047750"/>
          </a:xfrm>
          <a:prstGeom prst="rect">
            <a:avLst/>
          </a:prstGeom>
          <a:solidFill>
            <a:schemeClr val="tx1">
              <a:lumMod val="65000"/>
            </a:schemeClr>
          </a:solidFill>
          <a:ln w="6480">
            <a:solidFill>
              <a:schemeClr val="bg2">
                <a:lumMod val="75000"/>
                <a:lumOff val="2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D823EB50-6A25-64A7-8B5F-600921B85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8951" y="3429000"/>
            <a:ext cx="2705100" cy="863381"/>
          </a:xfrm>
          <a:prstGeom prst="rect">
            <a:avLst/>
          </a:prstGeom>
          <a:solidFill>
            <a:schemeClr val="tx1">
              <a:lumMod val="65000"/>
            </a:schemeClr>
          </a:solidFill>
          <a:ln w="6480">
            <a:solidFill>
              <a:schemeClr val="bg2">
                <a:lumMod val="75000"/>
                <a:lumOff val="2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AD28F39D-CDEB-D54D-B323-F745AD752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2624" y="4901871"/>
            <a:ext cx="2439305" cy="1244600"/>
          </a:xfrm>
          <a:prstGeom prst="rect">
            <a:avLst/>
          </a:prstGeom>
          <a:solidFill>
            <a:schemeClr val="tx1">
              <a:lumMod val="65000"/>
            </a:schemeClr>
          </a:solidFill>
          <a:ln w="6480">
            <a:solidFill>
              <a:schemeClr val="bg2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/>
          </a:p>
        </p:txBody>
      </p:sp>
      <p:pic>
        <p:nvPicPr>
          <p:cNvPr id="31" name="Imagine 30">
            <a:extLst>
              <a:ext uri="{FF2B5EF4-FFF2-40B4-BE49-F238E27FC236}">
                <a16:creationId xmlns:a16="http://schemas.microsoft.com/office/drawing/2014/main" id="{31AED6F0-76D1-FE38-3E1F-A0507B9A8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950" y="5715167"/>
            <a:ext cx="938865" cy="426757"/>
          </a:xfrm>
          <a:prstGeom prst="rect">
            <a:avLst/>
          </a:prstGeom>
        </p:spPr>
      </p:pic>
      <p:sp>
        <p:nvSpPr>
          <p:cNvPr id="37" name="CasetăText 36">
            <a:extLst>
              <a:ext uri="{FF2B5EF4-FFF2-40B4-BE49-F238E27FC236}">
                <a16:creationId xmlns:a16="http://schemas.microsoft.com/office/drawing/2014/main" id="{9EA43788-FA23-CF12-9C2A-447CC7F06E98}"/>
              </a:ext>
            </a:extLst>
          </p:cNvPr>
          <p:cNvSpPr txBox="1"/>
          <p:nvPr/>
        </p:nvSpPr>
        <p:spPr>
          <a:xfrm>
            <a:off x="3076516" y="5755610"/>
            <a:ext cx="41776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1600" dirty="0" err="1">
                <a:latin typeface="Arial" panose="020B0604020202020204" pitchFamily="34" charset="0"/>
                <a:cs typeface="Noto Sans CJK SC Regular" charset="0"/>
              </a:rPr>
              <a:t>Modulul</a:t>
            </a:r>
            <a:r>
              <a:rPr lang="en-US" altLang="en-US" sz="1600" dirty="0">
                <a:latin typeface="Arial" panose="020B0604020202020204" pitchFamily="34" charset="0"/>
                <a:cs typeface="Noto Sans CJK SC Regular" charset="0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cs typeface="Noto Sans CJK SC Regular" charset="0"/>
              </a:rPr>
              <a:t>functiei</a:t>
            </a:r>
            <a:r>
              <a:rPr lang="en-US" altLang="en-US" sz="1600" dirty="0">
                <a:latin typeface="Arial" panose="020B0604020202020204" pitchFamily="34" charset="0"/>
                <a:cs typeface="Noto Sans CJK SC Regular" charset="0"/>
              </a:rPr>
              <a:t> de transfer</a:t>
            </a:r>
          </a:p>
        </p:txBody>
      </p:sp>
      <p:sp>
        <p:nvSpPr>
          <p:cNvPr id="39" name="CasetăText 38">
            <a:extLst>
              <a:ext uri="{FF2B5EF4-FFF2-40B4-BE49-F238E27FC236}">
                <a16:creationId xmlns:a16="http://schemas.microsoft.com/office/drawing/2014/main" id="{72945341-27F9-7B63-D751-1947429C833A}"/>
              </a:ext>
            </a:extLst>
          </p:cNvPr>
          <p:cNvSpPr txBox="1"/>
          <p:nvPr/>
        </p:nvSpPr>
        <p:spPr>
          <a:xfrm>
            <a:off x="5873640" y="4308530"/>
            <a:ext cx="4481309" cy="378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1800" dirty="0" err="1">
                <a:solidFill>
                  <a:srgbClr val="FFFFFF"/>
                </a:solidFill>
                <a:latin typeface="Arial" panose="020B0604020202020204" pitchFamily="34" charset="0"/>
                <a:cs typeface="Noto Sans CJK SC Regular" charset="0"/>
              </a:rPr>
              <a:t>Functia</a:t>
            </a:r>
            <a:r>
              <a:rPr lang="en-US" altLang="en-US" sz="1800" dirty="0">
                <a:solidFill>
                  <a:srgbClr val="FFFFFF"/>
                </a:solidFill>
                <a:latin typeface="Arial" panose="020B0604020202020204" pitchFamily="34" charset="0"/>
                <a:cs typeface="Noto Sans CJK SC Regular" charset="0"/>
              </a:rPr>
              <a:t> de transfer a </a:t>
            </a:r>
            <a:r>
              <a:rPr lang="en-US" altLang="en-US" sz="1800" dirty="0" err="1">
                <a:solidFill>
                  <a:srgbClr val="FFFFFF"/>
                </a:solidFill>
                <a:latin typeface="Arial" panose="020B0604020202020204" pitchFamily="34" charset="0"/>
                <a:cs typeface="Noto Sans CJK SC Regular" charset="0"/>
              </a:rPr>
              <a:t>unui</a:t>
            </a:r>
            <a:r>
              <a:rPr lang="en-US" altLang="en-US" sz="1800" dirty="0">
                <a:solidFill>
                  <a:srgbClr val="FFFFFF"/>
                </a:solidFill>
                <a:latin typeface="Arial" panose="020B0604020202020204" pitchFamily="34" charset="0"/>
                <a:cs typeface="Noto Sans CJK SC Regular" charset="0"/>
              </a:rPr>
              <a:t> FTS</a:t>
            </a:r>
          </a:p>
        </p:txBody>
      </p:sp>
      <p:sp>
        <p:nvSpPr>
          <p:cNvPr id="41" name="CasetăText 40">
            <a:extLst>
              <a:ext uri="{FF2B5EF4-FFF2-40B4-BE49-F238E27FC236}">
                <a16:creationId xmlns:a16="http://schemas.microsoft.com/office/drawing/2014/main" id="{DEA69F73-AA08-465B-CFA7-D7110565C1C0}"/>
              </a:ext>
            </a:extLst>
          </p:cNvPr>
          <p:cNvSpPr txBox="1"/>
          <p:nvPr/>
        </p:nvSpPr>
        <p:spPr>
          <a:xfrm>
            <a:off x="7609114" y="6106216"/>
            <a:ext cx="3822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dirty="0" err="1">
                <a:solidFill>
                  <a:srgbClr val="FFFFFF"/>
                </a:solidFill>
                <a:latin typeface="Arial" panose="020B0604020202020204" pitchFamily="34" charset="0"/>
                <a:cs typeface="Noto Sans CJK SC Regular" charset="0"/>
              </a:rPr>
              <a:t>Frecventa</a:t>
            </a:r>
            <a:r>
              <a:rPr lang="en-US" altLang="en-US" dirty="0">
                <a:solidFill>
                  <a:srgbClr val="FFFFFF"/>
                </a:solidFill>
                <a:latin typeface="Arial" panose="020B0604020202020204" pitchFamily="34" charset="0"/>
                <a:cs typeface="Noto Sans CJK SC Regular" charset="0"/>
              </a:rPr>
              <a:t> de </a:t>
            </a:r>
            <a:r>
              <a:rPr lang="en-US" altLang="en-US" dirty="0" err="1">
                <a:solidFill>
                  <a:srgbClr val="FFFFFF"/>
                </a:solidFill>
                <a:latin typeface="Arial" panose="020B0604020202020204" pitchFamily="34" charset="0"/>
                <a:cs typeface="Noto Sans CJK SC Regular" charset="0"/>
              </a:rPr>
              <a:t>taiere</a:t>
            </a:r>
            <a:r>
              <a:rPr lang="en-US" altLang="en-US" dirty="0">
                <a:solidFill>
                  <a:srgbClr val="FFFFFF"/>
                </a:solidFill>
                <a:latin typeface="Arial" panose="020B0604020202020204" pitchFamily="34" charset="0"/>
                <a:cs typeface="Noto Sans CJK SC Regular" charset="0"/>
              </a:rPr>
              <a:t> a </a:t>
            </a:r>
            <a:r>
              <a:rPr lang="en-US" altLang="en-US" dirty="0" err="1">
                <a:solidFill>
                  <a:srgbClr val="FFFFFF"/>
                </a:solidFill>
                <a:latin typeface="Arial" panose="020B0604020202020204" pitchFamily="34" charset="0"/>
                <a:cs typeface="Noto Sans CJK SC Regular" charset="0"/>
              </a:rPr>
              <a:t>unui</a:t>
            </a:r>
            <a:r>
              <a:rPr lang="en-US" altLang="en-US" dirty="0">
                <a:solidFill>
                  <a:srgbClr val="FFFFFF"/>
                </a:solidFill>
                <a:latin typeface="Arial" panose="020B0604020202020204" pitchFamily="34" charset="0"/>
                <a:cs typeface="Noto Sans CJK SC Regular" charset="0"/>
              </a:rPr>
              <a:t> FTS</a:t>
            </a:r>
          </a:p>
        </p:txBody>
      </p:sp>
      <p:sp>
        <p:nvSpPr>
          <p:cNvPr id="43" name="CasetăText 42">
            <a:extLst>
              <a:ext uri="{FF2B5EF4-FFF2-40B4-BE49-F238E27FC236}">
                <a16:creationId xmlns:a16="http://schemas.microsoft.com/office/drawing/2014/main" id="{8D00544E-C779-9C9C-55BE-2F516C5895EA}"/>
              </a:ext>
            </a:extLst>
          </p:cNvPr>
          <p:cNvSpPr txBox="1"/>
          <p:nvPr/>
        </p:nvSpPr>
        <p:spPr>
          <a:xfrm>
            <a:off x="9300365" y="4320682"/>
            <a:ext cx="2858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1800" dirty="0" err="1">
                <a:solidFill>
                  <a:srgbClr val="FFFFFF"/>
                </a:solidFill>
                <a:latin typeface="Arial" panose="020B0604020202020204" pitchFamily="34" charset="0"/>
                <a:cs typeface="Noto Sans CJK SC Regular" charset="0"/>
              </a:rPr>
              <a:t>Faza</a:t>
            </a:r>
            <a:r>
              <a:rPr lang="en-US" altLang="en-US" sz="1800" dirty="0">
                <a:solidFill>
                  <a:srgbClr val="FFFFFF"/>
                </a:solidFill>
                <a:latin typeface="Arial" panose="020B0604020202020204" pitchFamily="34" charset="0"/>
                <a:cs typeface="Noto Sans CJK SC Regular" charset="0"/>
              </a:rPr>
              <a:t> </a:t>
            </a:r>
            <a:r>
              <a:rPr lang="en-US" altLang="en-US" sz="1800" dirty="0" err="1">
                <a:solidFill>
                  <a:srgbClr val="FFFFFF"/>
                </a:solidFill>
                <a:latin typeface="Arial" panose="020B0604020202020204" pitchFamily="34" charset="0"/>
                <a:cs typeface="Noto Sans CJK SC Regular" charset="0"/>
              </a:rPr>
              <a:t>functiei</a:t>
            </a:r>
            <a:r>
              <a:rPr lang="en-US" altLang="en-US" sz="1800" dirty="0">
                <a:solidFill>
                  <a:srgbClr val="FFFFFF"/>
                </a:solidFill>
                <a:latin typeface="Arial" panose="020B0604020202020204" pitchFamily="34" charset="0"/>
                <a:cs typeface="Noto Sans CJK SC Regular" charset="0"/>
              </a:rPr>
              <a:t> de transfer</a:t>
            </a:r>
          </a:p>
        </p:txBody>
      </p:sp>
      <p:pic>
        <p:nvPicPr>
          <p:cNvPr id="45" name="Imagine 44" descr="O imagine care conține Font, text, simbol, Grafică&#10;&#10;Descriere generată automat">
            <a:extLst>
              <a:ext uri="{FF2B5EF4-FFF2-40B4-BE49-F238E27FC236}">
                <a16:creationId xmlns:a16="http://schemas.microsoft.com/office/drawing/2014/main" id="{14695571-9366-A04B-E9D1-56C01D62CF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500" y="5038785"/>
            <a:ext cx="1844403" cy="976027"/>
          </a:xfrm>
          <a:prstGeom prst="rect">
            <a:avLst/>
          </a:prstGeom>
        </p:spPr>
      </p:pic>
      <p:pic>
        <p:nvPicPr>
          <p:cNvPr id="47" name="Imagine 46" descr="O imagine care conține text, Font, simbol, număr&#10;&#10;Descriere generată automat">
            <a:extLst>
              <a:ext uri="{FF2B5EF4-FFF2-40B4-BE49-F238E27FC236}">
                <a16:creationId xmlns:a16="http://schemas.microsoft.com/office/drawing/2014/main" id="{3071D82E-6D28-2759-9492-64DB3F7EF5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89" y="4490657"/>
            <a:ext cx="1563138" cy="1025809"/>
          </a:xfrm>
          <a:prstGeom prst="rect">
            <a:avLst/>
          </a:prstGeom>
        </p:spPr>
      </p:pic>
      <p:pic>
        <p:nvPicPr>
          <p:cNvPr id="49" name="Imagine 48" descr="O imagine care conține text, Font, număr, captură de ecran&#10;&#10;Descriere generată automat">
            <a:extLst>
              <a:ext uri="{FF2B5EF4-FFF2-40B4-BE49-F238E27FC236}">
                <a16:creationId xmlns:a16="http://schemas.microsoft.com/office/drawing/2014/main" id="{0C94DCB5-BCDE-170C-A054-4231A7146C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247" y="3545490"/>
            <a:ext cx="2429734" cy="604913"/>
          </a:xfrm>
          <a:prstGeom prst="rect">
            <a:avLst/>
          </a:prstGeom>
        </p:spPr>
      </p:pic>
      <p:pic>
        <p:nvPicPr>
          <p:cNvPr id="51" name="Imagine 50" descr="O imagine care conține Font, Grafică, caligrafie, scris de mână&#10;&#10;Descriere generată automat">
            <a:extLst>
              <a:ext uri="{FF2B5EF4-FFF2-40B4-BE49-F238E27FC236}">
                <a16:creationId xmlns:a16="http://schemas.microsoft.com/office/drawing/2014/main" id="{781C3F08-09FA-8841-1625-4BBC4C75F7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0883" y="3647510"/>
            <a:ext cx="2327826" cy="440680"/>
          </a:xfrm>
          <a:prstGeom prst="rect">
            <a:avLst/>
          </a:prstGeom>
        </p:spPr>
      </p:pic>
      <p:pic>
        <p:nvPicPr>
          <p:cNvPr id="53" name="Imagine 52" descr="O imagine care conține text, Font, Grafică, tipografie&#10;&#10;Descriere generată automat">
            <a:extLst>
              <a:ext uri="{FF2B5EF4-FFF2-40B4-BE49-F238E27FC236}">
                <a16:creationId xmlns:a16="http://schemas.microsoft.com/office/drawing/2014/main" id="{B203C623-9B4C-2748-475C-05F0B92902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325" y="4747812"/>
            <a:ext cx="2309437" cy="65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840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47A2A-1A93-AC15-879A-DF6E3D1D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74E1EB3-92CA-0503-E66E-2A089664C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ine 4" descr="O imagine care conține verde, lumină reflectorului&#10;&#10;Descriere generată automat">
            <a:extLst>
              <a:ext uri="{FF2B5EF4-FFF2-40B4-BE49-F238E27FC236}">
                <a16:creationId xmlns:a16="http://schemas.microsoft.com/office/drawing/2014/main" id="{9767769E-3178-E392-6075-14F8B787DF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1" b="216"/>
          <a:stretch/>
        </p:blipFill>
        <p:spPr>
          <a:xfrm>
            <a:off x="20" y="3391"/>
            <a:ext cx="12191980" cy="6857999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8C9098B7-C73F-0753-B386-D8D1ADDA4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9074" y="96485"/>
            <a:ext cx="3537858" cy="57581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rgbClr val="FFFFFF"/>
                </a:solidFill>
                <a:latin typeface="Tw Cen MT" panose="020B0602020104020603" pitchFamily="34" charset="-18"/>
              </a:rPr>
              <a:t>STRUCTURA </a:t>
            </a:r>
            <a:r>
              <a:rPr lang="en-GB" sz="4000" dirty="0">
                <a:solidFill>
                  <a:srgbClr val="FFFFFF"/>
                </a:solidFill>
              </a:rPr>
              <a:t> 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90A8C43E-0D14-0F1E-179C-8BE6EEB2D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98436" y="455115"/>
            <a:ext cx="5174568" cy="434359"/>
          </a:xfrm>
        </p:spPr>
        <p:txBody>
          <a:bodyPr>
            <a:noAutofit/>
          </a:bodyPr>
          <a:lstStyle/>
          <a:p>
            <a:pPr marL="342900" indent="-342900" defTabSz="1007943" eaLnBrk="1" fontAlgn="auto" hangingPunct="1">
              <a:lnSpc>
                <a:spcPct val="93000"/>
              </a:lnSpc>
              <a:spcBef>
                <a:spcPts val="1102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0" algn="l"/>
                <a:tab pos="112713" algn="l"/>
                <a:tab pos="569913" algn="l"/>
                <a:tab pos="1027113" algn="l"/>
                <a:tab pos="1484313" algn="l"/>
                <a:tab pos="1941513" algn="l"/>
                <a:tab pos="2398713" algn="l"/>
                <a:tab pos="2855913" algn="l"/>
                <a:tab pos="3313113" algn="l"/>
                <a:tab pos="3770313" algn="l"/>
                <a:tab pos="4227513" algn="l"/>
                <a:tab pos="4684713" algn="l"/>
                <a:tab pos="5141913" algn="l"/>
                <a:tab pos="5599113" algn="l"/>
                <a:tab pos="6056313" algn="l"/>
                <a:tab pos="6513513" algn="l"/>
                <a:tab pos="6970713" algn="l"/>
                <a:tab pos="7427913" algn="l"/>
                <a:tab pos="7885113" algn="l"/>
                <a:tab pos="8342313" algn="l"/>
                <a:tab pos="8799513" algn="l"/>
              </a:tabLst>
              <a:defRPr/>
            </a:pPr>
            <a:r>
              <a:rPr lang="en-GB" sz="4000" dirty="0" err="1">
                <a:solidFill>
                  <a:srgbClr val="FFFFFF"/>
                </a:solidFill>
                <a:latin typeface="Tw Cen MT" panose="020B0602020104020603" pitchFamily="34" charset="-18"/>
              </a:rPr>
              <a:t>Pagina</a:t>
            </a:r>
            <a:r>
              <a:rPr lang="en-GB" sz="4000" dirty="0">
                <a:solidFill>
                  <a:srgbClr val="FFFFFF"/>
                </a:solidFill>
                <a:latin typeface="Tw Cen MT" panose="020B0602020104020603" pitchFamily="34" charset="-18"/>
              </a:rPr>
              <a:t> </a:t>
            </a:r>
            <a:r>
              <a:rPr lang="en-GB" sz="4000" dirty="0" err="1">
                <a:solidFill>
                  <a:srgbClr val="FFFFFF"/>
                </a:solidFill>
                <a:latin typeface="Tw Cen MT" panose="020B0602020104020603" pitchFamily="34" charset="-18"/>
              </a:rPr>
              <a:t>principala</a:t>
            </a:r>
            <a:endParaRPr lang="ro-RO" sz="4000" dirty="0">
              <a:solidFill>
                <a:srgbClr val="FFFFFF"/>
              </a:solidFill>
              <a:latin typeface="Tw Cen MT" panose="020B0602020104020603" pitchFamily="34" charset="-18"/>
            </a:endParaRPr>
          </a:p>
        </p:txBody>
      </p:sp>
      <p:pic>
        <p:nvPicPr>
          <p:cNvPr id="7" name="Imagine 6" descr="O imagine care conține text, captură de ecran, verde, proiectare&#10;&#10;Descriere generată automat">
            <a:extLst>
              <a:ext uri="{FF2B5EF4-FFF2-40B4-BE49-F238E27FC236}">
                <a16:creationId xmlns:a16="http://schemas.microsoft.com/office/drawing/2014/main" id="{4181316A-EAE2-A6F8-A912-76EFD035E9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636" y="2567692"/>
            <a:ext cx="7791956" cy="3865687"/>
          </a:xfrm>
          <a:prstGeom prst="rect">
            <a:avLst/>
          </a:prstGeom>
        </p:spPr>
      </p:pic>
      <p:sp>
        <p:nvSpPr>
          <p:cNvPr id="21" name="TextBox 14">
            <a:extLst>
              <a:ext uri="{FF2B5EF4-FFF2-40B4-BE49-F238E27FC236}">
                <a16:creationId xmlns:a16="http://schemas.microsoft.com/office/drawing/2014/main" id="{0B44FC65-0F22-B7CE-3172-96BDF6C95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221" y="1334850"/>
            <a:ext cx="2156393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defRPr/>
            </a:pPr>
            <a:r>
              <a:rPr lang="en-US" altLang="en-US" sz="2000" dirty="0" err="1">
                <a:solidFill>
                  <a:schemeClr val="bg1"/>
                </a:solidFill>
              </a:rPr>
              <a:t>Buton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sz="2000" dirty="0" err="1">
                <a:solidFill>
                  <a:schemeClr val="bg1"/>
                </a:solidFill>
              </a:rPr>
              <a:t>pentru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sz="2000" dirty="0" err="1">
                <a:solidFill>
                  <a:schemeClr val="bg1"/>
                </a:solidFill>
              </a:rPr>
              <a:t>deschiderea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sz="2000" dirty="0" err="1">
                <a:solidFill>
                  <a:schemeClr val="bg1"/>
                </a:solidFill>
              </a:rPr>
              <a:t>diagramelor</a:t>
            </a:r>
            <a:endParaRPr lang="en-US" altLang="en-US" sz="2000" dirty="0">
              <a:solidFill>
                <a:schemeClr val="bg1"/>
              </a:solidFill>
            </a:endParaRP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6D58CE4B-62AD-0E60-23B4-8AA287344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414" y="1314094"/>
            <a:ext cx="2590800" cy="10160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defRPr/>
            </a:pPr>
            <a:r>
              <a:rPr lang="en-US" altLang="en-US" sz="2000" dirty="0" err="1">
                <a:solidFill>
                  <a:schemeClr val="bg1"/>
                </a:solidFill>
              </a:rPr>
              <a:t>Buton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sz="2000" dirty="0" err="1">
                <a:solidFill>
                  <a:schemeClr val="bg1"/>
                </a:solidFill>
              </a:rPr>
              <a:t>pentru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sz="2000" dirty="0" err="1">
                <a:solidFill>
                  <a:schemeClr val="bg1"/>
                </a:solidFill>
              </a:rPr>
              <a:t>deschiderea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sz="2000" dirty="0" err="1">
                <a:solidFill>
                  <a:schemeClr val="bg1"/>
                </a:solidFill>
              </a:rPr>
              <a:t>diagramelor</a:t>
            </a:r>
            <a:endParaRPr lang="en-US" altLang="en-US" sz="2000" dirty="0">
              <a:solidFill>
                <a:schemeClr val="bg1"/>
              </a:solidFill>
            </a:endParaRPr>
          </a:p>
        </p:txBody>
      </p:sp>
      <p:sp>
        <p:nvSpPr>
          <p:cNvPr id="24" name="TextBox 17">
            <a:extLst>
              <a:ext uri="{FF2B5EF4-FFF2-40B4-BE49-F238E27FC236}">
                <a16:creationId xmlns:a16="http://schemas.microsoft.com/office/drawing/2014/main" id="{D884C3B1-ACDD-05C0-6311-62143444D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388" y="1334850"/>
            <a:ext cx="2057400" cy="10160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defRPr/>
            </a:pPr>
            <a:r>
              <a:rPr lang="en-US" altLang="en-US" sz="2000" dirty="0" err="1">
                <a:solidFill>
                  <a:schemeClr val="bg1"/>
                </a:solidFill>
              </a:rPr>
              <a:t>Buton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sz="2000" dirty="0" err="1">
                <a:solidFill>
                  <a:schemeClr val="bg1"/>
                </a:solidFill>
              </a:rPr>
              <a:t>pentru</a:t>
            </a:r>
            <a:r>
              <a:rPr lang="en-US" altLang="en-US" sz="2000" dirty="0">
                <a:solidFill>
                  <a:schemeClr val="bg1"/>
                </a:solidFill>
              </a:rPr>
              <a:t> a </a:t>
            </a:r>
            <a:r>
              <a:rPr lang="en-US" altLang="en-US" sz="2000" dirty="0" err="1">
                <a:solidFill>
                  <a:schemeClr val="bg1"/>
                </a:solidFill>
              </a:rPr>
              <a:t>vizualiza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sz="2000" dirty="0" err="1">
                <a:solidFill>
                  <a:schemeClr val="bg1"/>
                </a:solidFill>
              </a:rPr>
              <a:t>prezentarea</a:t>
            </a:r>
            <a:r>
              <a:rPr lang="en-US" altLang="en-US" sz="2000" dirty="0">
                <a:solidFill>
                  <a:schemeClr val="bg1"/>
                </a:solidFill>
              </a:rPr>
              <a:t> PPT</a:t>
            </a: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AA8EF65B-4601-D263-BC56-BCC32A7D6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602" y="1334849"/>
            <a:ext cx="2057400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defRPr/>
            </a:pPr>
            <a:r>
              <a:rPr lang="en-US" altLang="en-US" sz="2000" dirty="0">
                <a:solidFill>
                  <a:schemeClr val="bg1"/>
                </a:solidFill>
              </a:rPr>
              <a:t>Buton </a:t>
            </a:r>
            <a:r>
              <a:rPr lang="en-US" altLang="en-US" sz="2000" dirty="0" err="1">
                <a:solidFill>
                  <a:schemeClr val="bg1"/>
                </a:solidFill>
              </a:rPr>
              <a:t>pentru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sz="2000" dirty="0" err="1">
                <a:solidFill>
                  <a:schemeClr val="bg1"/>
                </a:solidFill>
              </a:rPr>
              <a:t>inchiderea</a:t>
            </a:r>
            <a:r>
              <a:rPr lang="en-US" altLang="en-US" sz="2000" dirty="0">
                <a:solidFill>
                  <a:schemeClr val="bg1"/>
                </a:solidFill>
              </a:rPr>
              <a:t> </a:t>
            </a:r>
            <a:r>
              <a:rPr lang="en-US" altLang="en-US" sz="2000" dirty="0" err="1">
                <a:solidFill>
                  <a:schemeClr val="bg1"/>
                </a:solidFill>
              </a:rPr>
              <a:t>ferestrei</a:t>
            </a:r>
            <a:endParaRPr lang="en-US" altLang="en-US" sz="2000" dirty="0">
              <a:solidFill>
                <a:schemeClr val="bg1"/>
              </a:solidFill>
            </a:endParaRPr>
          </a:p>
        </p:txBody>
      </p:sp>
      <p:cxnSp>
        <p:nvCxnSpPr>
          <p:cNvPr id="28" name="Conector drept 27">
            <a:extLst>
              <a:ext uri="{FF2B5EF4-FFF2-40B4-BE49-F238E27FC236}">
                <a16:creationId xmlns:a16="http://schemas.microsoft.com/office/drawing/2014/main" id="{89AB204A-D1AF-A81D-3C9D-A31886579E77}"/>
              </a:ext>
            </a:extLst>
          </p:cNvPr>
          <p:cNvCxnSpPr>
            <a:cxnSpLocks/>
          </p:cNvCxnSpPr>
          <p:nvPr/>
        </p:nvCxnSpPr>
        <p:spPr>
          <a:xfrm>
            <a:off x="1099457" y="2376397"/>
            <a:ext cx="1338444" cy="410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rept 32">
            <a:extLst>
              <a:ext uri="{FF2B5EF4-FFF2-40B4-BE49-F238E27FC236}">
                <a16:creationId xmlns:a16="http://schemas.microsoft.com/office/drawing/2014/main" id="{0D6353E4-5D2E-7A39-B5BE-FA0F3690CC4F}"/>
              </a:ext>
            </a:extLst>
          </p:cNvPr>
          <p:cNvCxnSpPr/>
          <p:nvPr/>
        </p:nvCxnSpPr>
        <p:spPr>
          <a:xfrm>
            <a:off x="4310743" y="2376397"/>
            <a:ext cx="941614" cy="4484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rept 34">
            <a:extLst>
              <a:ext uri="{FF2B5EF4-FFF2-40B4-BE49-F238E27FC236}">
                <a16:creationId xmlns:a16="http://schemas.microsoft.com/office/drawing/2014/main" id="{3D2D6893-0368-00DE-2CA4-6B7B90FC1C62}"/>
              </a:ext>
            </a:extLst>
          </p:cNvPr>
          <p:cNvCxnSpPr/>
          <p:nvPr/>
        </p:nvCxnSpPr>
        <p:spPr>
          <a:xfrm flipH="1">
            <a:off x="6618514" y="2416629"/>
            <a:ext cx="816429" cy="370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rept 37">
            <a:extLst>
              <a:ext uri="{FF2B5EF4-FFF2-40B4-BE49-F238E27FC236}">
                <a16:creationId xmlns:a16="http://schemas.microsoft.com/office/drawing/2014/main" id="{07E74198-BD05-1CFA-D676-41612994CD6A}"/>
              </a:ext>
            </a:extLst>
          </p:cNvPr>
          <p:cNvCxnSpPr/>
          <p:nvPr/>
        </p:nvCxnSpPr>
        <p:spPr>
          <a:xfrm flipH="1">
            <a:off x="8811986" y="2416629"/>
            <a:ext cx="1551214" cy="4082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540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2765DB-323B-C98F-F9A5-33BAA4168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7072C6-912C-14DC-804E-D1F5BF276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ine 4" descr="O imagine care conține verde, lumină reflectorului&#10;&#10;Descriere generată automat">
            <a:extLst>
              <a:ext uri="{FF2B5EF4-FFF2-40B4-BE49-F238E27FC236}">
                <a16:creationId xmlns:a16="http://schemas.microsoft.com/office/drawing/2014/main" id="{7E370AEF-3AF7-2E86-8DFA-B077D47675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1" b="216"/>
          <a:stretch/>
        </p:blipFill>
        <p:spPr>
          <a:xfrm>
            <a:off x="20" y="3391"/>
            <a:ext cx="12191980" cy="6857999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38CD8197-2B30-154E-CBE7-67F822D62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9074" y="96485"/>
            <a:ext cx="3537858" cy="57581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rgbClr val="FFFFFF"/>
                </a:solidFill>
                <a:latin typeface="Tw Cen MT" panose="020B0602020104020603" pitchFamily="34" charset="-18"/>
              </a:rPr>
              <a:t> </a:t>
            </a:r>
            <a:r>
              <a:rPr lang="en-GB" sz="4000" dirty="0">
                <a:solidFill>
                  <a:srgbClr val="FFFFFF"/>
                </a:solidFill>
              </a:rPr>
              <a:t> 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7A3C018F-B7E9-6FF2-35BA-ECA1384CE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98436" y="455115"/>
            <a:ext cx="5174568" cy="434359"/>
          </a:xfrm>
        </p:spPr>
        <p:txBody>
          <a:bodyPr>
            <a:noAutofit/>
          </a:bodyPr>
          <a:lstStyle/>
          <a:p>
            <a:pPr marL="342900" indent="-342900" defTabSz="1007943" eaLnBrk="1" fontAlgn="auto" hangingPunct="1">
              <a:lnSpc>
                <a:spcPct val="93000"/>
              </a:lnSpc>
              <a:spcBef>
                <a:spcPts val="1102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0" algn="l"/>
                <a:tab pos="112713" algn="l"/>
                <a:tab pos="569913" algn="l"/>
                <a:tab pos="1027113" algn="l"/>
                <a:tab pos="1484313" algn="l"/>
                <a:tab pos="1941513" algn="l"/>
                <a:tab pos="2398713" algn="l"/>
                <a:tab pos="2855913" algn="l"/>
                <a:tab pos="3313113" algn="l"/>
                <a:tab pos="3770313" algn="l"/>
                <a:tab pos="4227513" algn="l"/>
                <a:tab pos="4684713" algn="l"/>
                <a:tab pos="5141913" algn="l"/>
                <a:tab pos="5599113" algn="l"/>
                <a:tab pos="6056313" algn="l"/>
                <a:tab pos="6513513" algn="l"/>
                <a:tab pos="6970713" algn="l"/>
                <a:tab pos="7427913" algn="l"/>
                <a:tab pos="7885113" algn="l"/>
                <a:tab pos="8342313" algn="l"/>
                <a:tab pos="8799513" algn="l"/>
              </a:tabLst>
              <a:defRPr/>
            </a:pPr>
            <a:r>
              <a:rPr lang="en-GB" sz="4000" dirty="0">
                <a:solidFill>
                  <a:srgbClr val="FFFFFF"/>
                </a:solidFill>
                <a:latin typeface="Tw Cen MT" panose="020B0602020104020603" pitchFamily="34" charset="-18"/>
              </a:rPr>
              <a:t>Schema </a:t>
            </a:r>
            <a:r>
              <a:rPr lang="en-GB" sz="4000" dirty="0" err="1">
                <a:solidFill>
                  <a:srgbClr val="FFFFFF"/>
                </a:solidFill>
                <a:latin typeface="Tw Cen MT" panose="020B0602020104020603" pitchFamily="34" charset="-18"/>
              </a:rPr>
              <a:t>Filtru</a:t>
            </a:r>
            <a:r>
              <a:rPr lang="en-GB" sz="4000" dirty="0">
                <a:solidFill>
                  <a:srgbClr val="FFFFFF"/>
                </a:solidFill>
                <a:latin typeface="Tw Cen MT" panose="020B0602020104020603" pitchFamily="34" charset="-18"/>
              </a:rPr>
              <a:t> </a:t>
            </a:r>
            <a:endParaRPr lang="ro-RO" sz="4000" dirty="0">
              <a:solidFill>
                <a:srgbClr val="FFFFFF"/>
              </a:solidFill>
              <a:latin typeface="Tw Cen MT" panose="020B0602020104020603" pitchFamily="34" charset="-18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FD40FD99-9790-4EDD-762D-AE3DC22B2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5428" y="4774735"/>
            <a:ext cx="2057627" cy="1323439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chemeClr val="bg1"/>
                </a:solidFill>
              </a:rPr>
              <a:t>PushButton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pentru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accesa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pagina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principala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defRPr/>
            </a:pPr>
            <a:endParaRPr lang="en-US" altLang="en-US" sz="2000" dirty="0">
              <a:solidFill>
                <a:schemeClr val="bg1"/>
              </a:solidFill>
            </a:endParaRPr>
          </a:p>
        </p:txBody>
      </p:sp>
      <p:cxnSp>
        <p:nvCxnSpPr>
          <p:cNvPr id="28" name="Conector drept 27">
            <a:extLst>
              <a:ext uri="{FF2B5EF4-FFF2-40B4-BE49-F238E27FC236}">
                <a16:creationId xmlns:a16="http://schemas.microsoft.com/office/drawing/2014/main" id="{E00676B5-1956-9827-101C-2F1B83060830}"/>
              </a:ext>
            </a:extLst>
          </p:cNvPr>
          <p:cNvCxnSpPr>
            <a:cxnSpLocks/>
          </p:cNvCxnSpPr>
          <p:nvPr/>
        </p:nvCxnSpPr>
        <p:spPr>
          <a:xfrm>
            <a:off x="1099457" y="2376397"/>
            <a:ext cx="1338444" cy="410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rept 32">
            <a:extLst>
              <a:ext uri="{FF2B5EF4-FFF2-40B4-BE49-F238E27FC236}">
                <a16:creationId xmlns:a16="http://schemas.microsoft.com/office/drawing/2014/main" id="{A33F05CF-B553-FDE4-496C-3AF3E81AEB52}"/>
              </a:ext>
            </a:extLst>
          </p:cNvPr>
          <p:cNvCxnSpPr/>
          <p:nvPr/>
        </p:nvCxnSpPr>
        <p:spPr>
          <a:xfrm>
            <a:off x="4310743" y="2376397"/>
            <a:ext cx="941614" cy="4484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rept 34">
            <a:extLst>
              <a:ext uri="{FF2B5EF4-FFF2-40B4-BE49-F238E27FC236}">
                <a16:creationId xmlns:a16="http://schemas.microsoft.com/office/drawing/2014/main" id="{2C9F81ED-DFEA-9D39-5A65-AEED9B03AD5A}"/>
              </a:ext>
            </a:extLst>
          </p:cNvPr>
          <p:cNvCxnSpPr/>
          <p:nvPr/>
        </p:nvCxnSpPr>
        <p:spPr>
          <a:xfrm flipH="1">
            <a:off x="6618514" y="2416629"/>
            <a:ext cx="816429" cy="370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Imagine 15" descr="O imagine care conține text, captură de ecran, diagramă, Dreptunghi&#10;&#10;Descriere generată automat">
            <a:extLst>
              <a:ext uri="{FF2B5EF4-FFF2-40B4-BE49-F238E27FC236}">
                <a16:creationId xmlns:a16="http://schemas.microsoft.com/office/drawing/2014/main" id="{5C5B2D51-0211-B44B-74EB-6EC9B3972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35" y="1350181"/>
            <a:ext cx="8869348" cy="461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787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A56989-FAF5-E2C8-C36B-BEEA2E84E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B0B61C3-BDE5-47A6-2C46-4A525A6CA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ine 4" descr="O imagine care conține verde, lumină reflectorului&#10;&#10;Descriere generată automat">
            <a:extLst>
              <a:ext uri="{FF2B5EF4-FFF2-40B4-BE49-F238E27FC236}">
                <a16:creationId xmlns:a16="http://schemas.microsoft.com/office/drawing/2014/main" id="{4368EF74-CCB7-791E-A999-07161589FF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1" b="216"/>
          <a:stretch/>
        </p:blipFill>
        <p:spPr>
          <a:xfrm>
            <a:off x="20" y="-1"/>
            <a:ext cx="12191980" cy="6857999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36291C94-4BB5-AA1E-955A-9E8F8E59C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9074" y="96485"/>
            <a:ext cx="3537858" cy="57581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rgbClr val="FFFFFF"/>
                </a:solidFill>
                <a:latin typeface="Tw Cen MT" panose="020B0602020104020603" pitchFamily="34" charset="-18"/>
              </a:rPr>
              <a:t> </a:t>
            </a:r>
            <a:r>
              <a:rPr lang="en-GB" sz="4000" dirty="0">
                <a:solidFill>
                  <a:srgbClr val="FFFFFF"/>
                </a:solidFill>
              </a:rPr>
              <a:t> 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150D006F-F260-3BD6-DC12-B3CCB0713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98436" y="455115"/>
            <a:ext cx="5174568" cy="434359"/>
          </a:xfrm>
        </p:spPr>
        <p:txBody>
          <a:bodyPr>
            <a:noAutofit/>
          </a:bodyPr>
          <a:lstStyle/>
          <a:p>
            <a:pPr marL="342900" indent="-342900" defTabSz="1007943" eaLnBrk="1" fontAlgn="auto" hangingPunct="1">
              <a:lnSpc>
                <a:spcPct val="93000"/>
              </a:lnSpc>
              <a:spcBef>
                <a:spcPts val="1102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0" algn="l"/>
                <a:tab pos="112713" algn="l"/>
                <a:tab pos="569913" algn="l"/>
                <a:tab pos="1027113" algn="l"/>
                <a:tab pos="1484313" algn="l"/>
                <a:tab pos="1941513" algn="l"/>
                <a:tab pos="2398713" algn="l"/>
                <a:tab pos="2855913" algn="l"/>
                <a:tab pos="3313113" algn="l"/>
                <a:tab pos="3770313" algn="l"/>
                <a:tab pos="4227513" algn="l"/>
                <a:tab pos="4684713" algn="l"/>
                <a:tab pos="5141913" algn="l"/>
                <a:tab pos="5599113" algn="l"/>
                <a:tab pos="6056313" algn="l"/>
                <a:tab pos="6513513" algn="l"/>
                <a:tab pos="6970713" algn="l"/>
                <a:tab pos="7427913" algn="l"/>
                <a:tab pos="7885113" algn="l"/>
                <a:tab pos="8342313" algn="l"/>
                <a:tab pos="8799513" algn="l"/>
              </a:tabLst>
              <a:defRPr/>
            </a:pPr>
            <a:r>
              <a:rPr lang="en-GB" sz="4000" dirty="0">
                <a:solidFill>
                  <a:srgbClr val="FFFFFF"/>
                </a:solidFill>
                <a:latin typeface="Tw Cen MT" panose="020B0602020104020603" pitchFamily="34" charset="-18"/>
              </a:rPr>
              <a:t>Schema </a:t>
            </a:r>
            <a:r>
              <a:rPr lang="en-GB" sz="4000" dirty="0" err="1">
                <a:solidFill>
                  <a:srgbClr val="FFFFFF"/>
                </a:solidFill>
                <a:latin typeface="Tw Cen MT" panose="020B0602020104020603" pitchFamily="34" charset="-18"/>
              </a:rPr>
              <a:t>Filtru</a:t>
            </a:r>
            <a:r>
              <a:rPr lang="en-GB" sz="4000" dirty="0">
                <a:solidFill>
                  <a:srgbClr val="FFFFFF"/>
                </a:solidFill>
                <a:latin typeface="Tw Cen MT" panose="020B0602020104020603" pitchFamily="34" charset="-18"/>
              </a:rPr>
              <a:t> </a:t>
            </a:r>
            <a:endParaRPr lang="ro-RO" sz="4000" dirty="0">
              <a:solidFill>
                <a:srgbClr val="FFFFFF"/>
              </a:solidFill>
              <a:latin typeface="Tw Cen MT" panose="020B0602020104020603" pitchFamily="34" charset="-18"/>
            </a:endParaRPr>
          </a:p>
        </p:txBody>
      </p:sp>
      <p:cxnSp>
        <p:nvCxnSpPr>
          <p:cNvPr id="28" name="Conector drept 27">
            <a:extLst>
              <a:ext uri="{FF2B5EF4-FFF2-40B4-BE49-F238E27FC236}">
                <a16:creationId xmlns:a16="http://schemas.microsoft.com/office/drawing/2014/main" id="{73DC6425-3328-E337-873D-1B3112453FF7}"/>
              </a:ext>
            </a:extLst>
          </p:cNvPr>
          <p:cNvCxnSpPr>
            <a:cxnSpLocks/>
          </p:cNvCxnSpPr>
          <p:nvPr/>
        </p:nvCxnSpPr>
        <p:spPr>
          <a:xfrm>
            <a:off x="1099457" y="2376397"/>
            <a:ext cx="1338444" cy="4103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rept 32">
            <a:extLst>
              <a:ext uri="{FF2B5EF4-FFF2-40B4-BE49-F238E27FC236}">
                <a16:creationId xmlns:a16="http://schemas.microsoft.com/office/drawing/2014/main" id="{B84E6FB9-9193-D8D1-1BB5-BDD33AFC4431}"/>
              </a:ext>
            </a:extLst>
          </p:cNvPr>
          <p:cNvCxnSpPr/>
          <p:nvPr/>
        </p:nvCxnSpPr>
        <p:spPr>
          <a:xfrm>
            <a:off x="4310743" y="2376397"/>
            <a:ext cx="941614" cy="4484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rept 34">
            <a:extLst>
              <a:ext uri="{FF2B5EF4-FFF2-40B4-BE49-F238E27FC236}">
                <a16:creationId xmlns:a16="http://schemas.microsoft.com/office/drawing/2014/main" id="{5F338C28-3CD7-2B9E-8D12-3EB01E64045E}"/>
              </a:ext>
            </a:extLst>
          </p:cNvPr>
          <p:cNvCxnSpPr/>
          <p:nvPr/>
        </p:nvCxnSpPr>
        <p:spPr>
          <a:xfrm flipH="1">
            <a:off x="6618514" y="2416629"/>
            <a:ext cx="816429" cy="3701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8">
            <a:extLst>
              <a:ext uri="{FF2B5EF4-FFF2-40B4-BE49-F238E27FC236}">
                <a16:creationId xmlns:a16="http://schemas.microsoft.com/office/drawing/2014/main" id="{466F508E-765C-A3BB-0948-691DA194FC63}"/>
              </a:ext>
            </a:extLst>
          </p:cNvPr>
          <p:cNvSpPr txBox="1"/>
          <p:nvPr/>
        </p:nvSpPr>
        <p:spPr>
          <a:xfrm>
            <a:off x="9571038" y="5632450"/>
            <a:ext cx="2343376" cy="9233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 err="1">
                <a:solidFill>
                  <a:schemeClr val="bg1"/>
                </a:solidFill>
              </a:rPr>
              <a:t>PushButton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pentru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reveni</a:t>
            </a:r>
            <a:r>
              <a:rPr lang="en-US" dirty="0">
                <a:solidFill>
                  <a:schemeClr val="bg1"/>
                </a:solidFill>
              </a:rPr>
              <a:t> la </a:t>
            </a:r>
            <a:r>
              <a:rPr lang="en-US" dirty="0" err="1">
                <a:solidFill>
                  <a:schemeClr val="bg1"/>
                </a:solidFill>
              </a:rPr>
              <a:t>pagina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principala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7DC39AB8-1082-16F3-F669-238533839FC3}"/>
              </a:ext>
            </a:extLst>
          </p:cNvPr>
          <p:cNvSpPr txBox="1"/>
          <p:nvPr/>
        </p:nvSpPr>
        <p:spPr>
          <a:xfrm>
            <a:off x="10028351" y="4898345"/>
            <a:ext cx="1428750" cy="6477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 err="1">
                <a:solidFill>
                  <a:schemeClr val="bg1"/>
                </a:solidFill>
              </a:rPr>
              <a:t>PushButton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pentru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iesire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126CCE03-53BE-3E41-7F6C-4E632504CCA1}"/>
              </a:ext>
            </a:extLst>
          </p:cNvPr>
          <p:cNvSpPr txBox="1"/>
          <p:nvPr/>
        </p:nvSpPr>
        <p:spPr>
          <a:xfrm>
            <a:off x="9571038" y="3753601"/>
            <a:ext cx="2343375" cy="92333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o-RO" dirty="0">
                <a:solidFill>
                  <a:schemeClr val="bg1"/>
                </a:solidFill>
              </a:rPr>
              <a:t>B</a:t>
            </a:r>
            <a:r>
              <a:rPr lang="en-US" dirty="0" err="1">
                <a:solidFill>
                  <a:schemeClr val="bg1"/>
                </a:solidFill>
              </a:rPr>
              <a:t>utoane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pentru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afisarea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frecventei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taiere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o-RO" dirty="0">
                <a:solidFill>
                  <a:schemeClr val="bg1"/>
                </a:solidFill>
              </a:rPr>
              <a:t>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pulsatiei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56FA07E5-30A3-9FB1-CA4F-F30C0F58FD71}"/>
              </a:ext>
            </a:extLst>
          </p:cNvPr>
          <p:cNvSpPr txBox="1"/>
          <p:nvPr/>
        </p:nvSpPr>
        <p:spPr>
          <a:xfrm>
            <a:off x="9292315" y="2501677"/>
            <a:ext cx="2742293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 err="1">
                <a:solidFill>
                  <a:schemeClr val="bg1"/>
                </a:solidFill>
              </a:rPr>
              <a:t>Butoane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pentru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modificarea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parametrilor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6270F0B1-0132-ED54-8ED4-93B790FD84D2}"/>
              </a:ext>
            </a:extLst>
          </p:cNvPr>
          <p:cNvSpPr txBox="1"/>
          <p:nvPr/>
        </p:nvSpPr>
        <p:spPr>
          <a:xfrm>
            <a:off x="9396976" y="1275551"/>
            <a:ext cx="2532969" cy="9233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R</a:t>
            </a:r>
            <a:r>
              <a:rPr lang="ro-RO" dirty="0"/>
              <a:t>a</a:t>
            </a:r>
            <a:r>
              <a:rPr lang="en-US" dirty="0" err="1"/>
              <a:t>dioButton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renunta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 nu la </a:t>
            </a:r>
            <a:r>
              <a:rPr lang="en-US" dirty="0" err="1"/>
              <a:t>reteaua</a:t>
            </a:r>
            <a:r>
              <a:rPr lang="en-US" dirty="0"/>
              <a:t> de  axe </a:t>
            </a:r>
          </a:p>
        </p:txBody>
      </p:sp>
      <p:pic>
        <p:nvPicPr>
          <p:cNvPr id="31" name="Imagine 30" descr="O imagine care conține text, captură de ecran, diagramă, linie&#10;&#10;Descriere generată automat">
            <a:extLst>
              <a:ext uri="{FF2B5EF4-FFF2-40B4-BE49-F238E27FC236}">
                <a16:creationId xmlns:a16="http://schemas.microsoft.com/office/drawing/2014/main" id="{F5FF40D7-B8DD-911F-BC3E-302D1D555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3" y="1297324"/>
            <a:ext cx="8872046" cy="4945634"/>
          </a:xfrm>
          <a:prstGeom prst="rect">
            <a:avLst/>
          </a:prstGeom>
        </p:spPr>
      </p:pic>
      <p:cxnSp>
        <p:nvCxnSpPr>
          <p:cNvPr id="34" name="Conector drept 33">
            <a:extLst>
              <a:ext uri="{FF2B5EF4-FFF2-40B4-BE49-F238E27FC236}">
                <a16:creationId xmlns:a16="http://schemas.microsoft.com/office/drawing/2014/main" id="{2A887D84-FC11-3D5A-D400-1484E9FF95DE}"/>
              </a:ext>
            </a:extLst>
          </p:cNvPr>
          <p:cNvCxnSpPr/>
          <p:nvPr/>
        </p:nvCxnSpPr>
        <p:spPr>
          <a:xfrm flipH="1" flipV="1">
            <a:off x="8637814" y="1491343"/>
            <a:ext cx="636815" cy="76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rept 36">
            <a:extLst>
              <a:ext uri="{FF2B5EF4-FFF2-40B4-BE49-F238E27FC236}">
                <a16:creationId xmlns:a16="http://schemas.microsoft.com/office/drawing/2014/main" id="{1EB76C20-8B84-7D4A-D9E6-5EAE199C9ABF}"/>
              </a:ext>
            </a:extLst>
          </p:cNvPr>
          <p:cNvCxnSpPr/>
          <p:nvPr/>
        </p:nvCxnSpPr>
        <p:spPr>
          <a:xfrm flipH="1" flipV="1">
            <a:off x="8365671" y="2198881"/>
            <a:ext cx="809694" cy="5279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725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735A4-E366-3BF9-1DF1-0B53A2B12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458413-6C7F-F279-1BB9-E04536B37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ine 4" descr="O imagine care conține verde, lumină reflectorului&#10;&#10;Descriere generată automat">
            <a:extLst>
              <a:ext uri="{FF2B5EF4-FFF2-40B4-BE49-F238E27FC236}">
                <a16:creationId xmlns:a16="http://schemas.microsoft.com/office/drawing/2014/main" id="{CDFFDF46-6BEF-106E-B149-BFDF255D00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1" b="216"/>
          <a:stretch/>
        </p:blipFill>
        <p:spPr>
          <a:xfrm>
            <a:off x="20" y="-1"/>
            <a:ext cx="12191980" cy="6857999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C57531C6-8686-C778-EFCB-8BB4ECB44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9074" y="96485"/>
            <a:ext cx="3537858" cy="57581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rgbClr val="FFFFFF"/>
                </a:solidFill>
                <a:latin typeface="Tw Cen MT" panose="020B0602020104020603" pitchFamily="34" charset="-18"/>
              </a:rPr>
              <a:t> </a:t>
            </a:r>
            <a:r>
              <a:rPr lang="en-GB" sz="4000" dirty="0">
                <a:solidFill>
                  <a:srgbClr val="FFFFFF"/>
                </a:solidFill>
              </a:rPr>
              <a:t> 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8CB3838A-0BCA-DD59-7807-074003906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98436" y="455115"/>
            <a:ext cx="12123736" cy="764085"/>
          </a:xfrm>
        </p:spPr>
        <p:txBody>
          <a:bodyPr>
            <a:noAutofit/>
          </a:bodyPr>
          <a:lstStyle/>
          <a:p>
            <a:pPr marL="342900" indent="-342900" defTabSz="1007943" eaLnBrk="1" fontAlgn="auto" hangingPunct="1">
              <a:lnSpc>
                <a:spcPct val="93000"/>
              </a:lnSpc>
              <a:spcBef>
                <a:spcPts val="1102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0" algn="l"/>
                <a:tab pos="112713" algn="l"/>
                <a:tab pos="569913" algn="l"/>
                <a:tab pos="1027113" algn="l"/>
                <a:tab pos="1484313" algn="l"/>
                <a:tab pos="1941513" algn="l"/>
                <a:tab pos="2398713" algn="l"/>
                <a:tab pos="2855913" algn="l"/>
                <a:tab pos="3313113" algn="l"/>
                <a:tab pos="3770313" algn="l"/>
                <a:tab pos="4227513" algn="l"/>
                <a:tab pos="4684713" algn="l"/>
                <a:tab pos="5141913" algn="l"/>
                <a:tab pos="5599113" algn="l"/>
                <a:tab pos="6056313" algn="l"/>
                <a:tab pos="6513513" algn="l"/>
                <a:tab pos="6970713" algn="l"/>
                <a:tab pos="7427913" algn="l"/>
                <a:tab pos="7885113" algn="l"/>
                <a:tab pos="8342313" algn="l"/>
                <a:tab pos="8799513" algn="l"/>
              </a:tabLst>
              <a:defRPr/>
            </a:pPr>
            <a:r>
              <a:rPr lang="pt-BR" dirty="0"/>
              <a:t>Reprezentarea caracteristicilor de frecvență și metodele de implementare a graficelor.</a:t>
            </a:r>
            <a:r>
              <a:rPr lang="en-GB" dirty="0">
                <a:solidFill>
                  <a:srgbClr val="FFFFFF"/>
                </a:solidFill>
                <a:latin typeface="Tw Cen MT" panose="020B0602020104020603" pitchFamily="34" charset="-18"/>
              </a:rPr>
              <a:t> </a:t>
            </a:r>
            <a:endParaRPr lang="ro-RO" dirty="0">
              <a:solidFill>
                <a:srgbClr val="FFFFFF"/>
              </a:solidFill>
              <a:latin typeface="Tw Cen MT" panose="020B0602020104020603" pitchFamily="34" charset="-18"/>
            </a:endParaRPr>
          </a:p>
        </p:txBody>
      </p:sp>
      <p:pic>
        <p:nvPicPr>
          <p:cNvPr id="9" name="Imagine 8" descr="O imagine care conține text, Font, captură de ecran&#10;&#10;Descriere generată automat">
            <a:extLst>
              <a:ext uri="{FF2B5EF4-FFF2-40B4-BE49-F238E27FC236}">
                <a16:creationId xmlns:a16="http://schemas.microsoft.com/office/drawing/2014/main" id="{1A624185-8378-6D93-D786-33E3D978A2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58" y="1030925"/>
            <a:ext cx="5355875" cy="1861865"/>
          </a:xfrm>
          <a:prstGeom prst="rect">
            <a:avLst/>
          </a:prstGeom>
        </p:spPr>
      </p:pic>
      <p:pic>
        <p:nvPicPr>
          <p:cNvPr id="14" name="Imagine 13" descr="O imagine care conține text, Font, captură de ecran&#10;&#10;Descriere generată automat">
            <a:extLst>
              <a:ext uri="{FF2B5EF4-FFF2-40B4-BE49-F238E27FC236}">
                <a16:creationId xmlns:a16="http://schemas.microsoft.com/office/drawing/2014/main" id="{F2405459-F0AD-F199-A272-F124A8B442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75" y="2931757"/>
            <a:ext cx="5513039" cy="1920791"/>
          </a:xfrm>
          <a:prstGeom prst="rect">
            <a:avLst/>
          </a:prstGeom>
        </p:spPr>
      </p:pic>
      <p:pic>
        <p:nvPicPr>
          <p:cNvPr id="20" name="Imagine 19">
            <a:extLst>
              <a:ext uri="{FF2B5EF4-FFF2-40B4-BE49-F238E27FC236}">
                <a16:creationId xmlns:a16="http://schemas.microsoft.com/office/drawing/2014/main" id="{AE3A6B61-0B0A-7ED9-8AF7-27B5D863C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363" y="4867265"/>
            <a:ext cx="5658640" cy="1867161"/>
          </a:xfrm>
          <a:prstGeom prst="rect">
            <a:avLst/>
          </a:prstGeom>
        </p:spPr>
      </p:pic>
      <p:pic>
        <p:nvPicPr>
          <p:cNvPr id="24" name="Imagine 23" descr="O imagine care conține text, linie, captură de ecran, Interval&#10;&#10;Descriere generată automat">
            <a:extLst>
              <a:ext uri="{FF2B5EF4-FFF2-40B4-BE49-F238E27FC236}">
                <a16:creationId xmlns:a16="http://schemas.microsoft.com/office/drawing/2014/main" id="{6C1FD171-751D-7F47-7A43-17F460D382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013" y="1030925"/>
            <a:ext cx="6310755" cy="570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10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CFC9B-9BF3-D626-8742-D8864139B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7CCB121-E64B-3B2F-ABFA-E9EA9FD7B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ine 4" descr="O imagine care conține verde, lumină reflectorului&#10;&#10;Descriere generată automat">
            <a:extLst>
              <a:ext uri="{FF2B5EF4-FFF2-40B4-BE49-F238E27FC236}">
                <a16:creationId xmlns:a16="http://schemas.microsoft.com/office/drawing/2014/main" id="{3A7364DB-DDD8-593C-6650-979426457D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1" b="216"/>
          <a:stretch/>
        </p:blipFill>
        <p:spPr>
          <a:xfrm>
            <a:off x="20" y="-1"/>
            <a:ext cx="12191980" cy="6857999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3244805C-7D81-582B-4525-F1E58DFEA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9074" y="96485"/>
            <a:ext cx="3537858" cy="57581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rgbClr val="FFFFFF"/>
                </a:solidFill>
                <a:latin typeface="Tw Cen MT" panose="020B0602020104020603" pitchFamily="34" charset="-18"/>
              </a:rPr>
              <a:t> </a:t>
            </a:r>
            <a:r>
              <a:rPr lang="en-GB" sz="4000" dirty="0">
                <a:solidFill>
                  <a:srgbClr val="FFFFFF"/>
                </a:solidFill>
              </a:rPr>
              <a:t> 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F4FCF68D-BAA4-7C56-0AE4-8EAA8D330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98436" y="455115"/>
            <a:ext cx="12123736" cy="764085"/>
          </a:xfrm>
        </p:spPr>
        <p:txBody>
          <a:bodyPr>
            <a:noAutofit/>
          </a:bodyPr>
          <a:lstStyle/>
          <a:p>
            <a:pPr marL="342900" indent="-342900" defTabSz="1007943" eaLnBrk="1" fontAlgn="auto" hangingPunct="1">
              <a:lnSpc>
                <a:spcPct val="93000"/>
              </a:lnSpc>
              <a:spcBef>
                <a:spcPts val="1102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0" algn="l"/>
                <a:tab pos="112713" algn="l"/>
                <a:tab pos="569913" algn="l"/>
                <a:tab pos="1027113" algn="l"/>
                <a:tab pos="1484313" algn="l"/>
                <a:tab pos="1941513" algn="l"/>
                <a:tab pos="2398713" algn="l"/>
                <a:tab pos="2855913" algn="l"/>
                <a:tab pos="3313113" algn="l"/>
                <a:tab pos="3770313" algn="l"/>
                <a:tab pos="4227513" algn="l"/>
                <a:tab pos="4684713" algn="l"/>
                <a:tab pos="5141913" algn="l"/>
                <a:tab pos="5599113" algn="l"/>
                <a:tab pos="6056313" algn="l"/>
                <a:tab pos="6513513" algn="l"/>
                <a:tab pos="6970713" algn="l"/>
                <a:tab pos="7427913" algn="l"/>
                <a:tab pos="7885113" algn="l"/>
                <a:tab pos="8342313" algn="l"/>
                <a:tab pos="8799513" algn="l"/>
              </a:tabLst>
              <a:defRPr/>
            </a:pPr>
            <a:r>
              <a:rPr lang="ro-RO" dirty="0" err="1"/>
              <a:t>Afisarea</a:t>
            </a:r>
            <a:r>
              <a:rPr lang="ro-RO" dirty="0"/>
              <a:t> graficelor </a:t>
            </a:r>
            <a:r>
              <a:rPr lang="ro-RO" dirty="0" err="1"/>
              <a:t>dupa</a:t>
            </a:r>
            <a:r>
              <a:rPr lang="ro-RO" dirty="0"/>
              <a:t> ajustarea parametrilor</a:t>
            </a:r>
            <a:r>
              <a:rPr lang="en-GB" dirty="0">
                <a:solidFill>
                  <a:srgbClr val="FFFFFF"/>
                </a:solidFill>
                <a:latin typeface="Tw Cen MT" panose="020B0602020104020603" pitchFamily="34" charset="-18"/>
              </a:rPr>
              <a:t> </a:t>
            </a:r>
            <a:endParaRPr lang="ro-RO" dirty="0">
              <a:solidFill>
                <a:srgbClr val="FFFFFF"/>
              </a:solidFill>
              <a:latin typeface="Tw Cen MT" panose="020B0602020104020603" pitchFamily="34" charset="-18"/>
            </a:endParaRPr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ED122B25-06C6-7D38-B4B4-0AAB6C5FC31C}"/>
              </a:ext>
            </a:extLst>
          </p:cNvPr>
          <p:cNvSpPr txBox="1"/>
          <p:nvPr/>
        </p:nvSpPr>
        <p:spPr>
          <a:xfrm>
            <a:off x="1857374" y="6334991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err="1"/>
              <a:t>Inainte</a:t>
            </a:r>
            <a:r>
              <a:rPr lang="en-US" dirty="0"/>
              <a:t>:</a:t>
            </a:r>
            <a:endParaRPr lang="ro-RO" dirty="0"/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102B758E-0DFF-1B40-B2BE-0D3D56BB1C32}"/>
              </a:ext>
            </a:extLst>
          </p:cNvPr>
          <p:cNvSpPr txBox="1"/>
          <p:nvPr/>
        </p:nvSpPr>
        <p:spPr>
          <a:xfrm>
            <a:off x="8272462" y="6347576"/>
            <a:ext cx="1483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Dupa</a:t>
            </a:r>
            <a:r>
              <a:rPr lang="en-US" dirty="0"/>
              <a:t>:</a:t>
            </a:r>
            <a:endParaRPr lang="ro-RO" dirty="0"/>
          </a:p>
        </p:txBody>
      </p:sp>
      <p:sp>
        <p:nvSpPr>
          <p:cNvPr id="17" name="Săgeată: jos 16">
            <a:extLst>
              <a:ext uri="{FF2B5EF4-FFF2-40B4-BE49-F238E27FC236}">
                <a16:creationId xmlns:a16="http://schemas.microsoft.com/office/drawing/2014/main" id="{D98ACDC8-9C6D-17AB-563E-A82D88D2BD70}"/>
              </a:ext>
            </a:extLst>
          </p:cNvPr>
          <p:cNvSpPr/>
          <p:nvPr/>
        </p:nvSpPr>
        <p:spPr>
          <a:xfrm rot="10800000">
            <a:off x="8371114" y="1830085"/>
            <a:ext cx="359229" cy="41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8" name="Săgeată: jos 17">
            <a:extLst>
              <a:ext uri="{FF2B5EF4-FFF2-40B4-BE49-F238E27FC236}">
                <a16:creationId xmlns:a16="http://schemas.microsoft.com/office/drawing/2014/main" id="{E8B83250-0E67-5E35-860A-8904430676EF}"/>
              </a:ext>
            </a:extLst>
          </p:cNvPr>
          <p:cNvSpPr/>
          <p:nvPr/>
        </p:nvSpPr>
        <p:spPr>
          <a:xfrm rot="10800000">
            <a:off x="8272462" y="3222299"/>
            <a:ext cx="495300" cy="4134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9" name="Săgeată: dreapta 18">
            <a:extLst>
              <a:ext uri="{FF2B5EF4-FFF2-40B4-BE49-F238E27FC236}">
                <a16:creationId xmlns:a16="http://schemas.microsoft.com/office/drawing/2014/main" id="{20944EEB-1406-A673-388A-EEF2406B7434}"/>
              </a:ext>
            </a:extLst>
          </p:cNvPr>
          <p:cNvSpPr/>
          <p:nvPr/>
        </p:nvSpPr>
        <p:spPr>
          <a:xfrm rot="7824928">
            <a:off x="8496300" y="4735286"/>
            <a:ext cx="462643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2" name="CasetăText 21">
            <a:extLst>
              <a:ext uri="{FF2B5EF4-FFF2-40B4-BE49-F238E27FC236}">
                <a16:creationId xmlns:a16="http://schemas.microsoft.com/office/drawing/2014/main" id="{DD9F1316-12B9-04A5-0871-879665D8DED4}"/>
              </a:ext>
            </a:extLst>
          </p:cNvPr>
          <p:cNvSpPr txBox="1"/>
          <p:nvPr/>
        </p:nvSpPr>
        <p:spPr>
          <a:xfrm>
            <a:off x="9998529" y="18872"/>
            <a:ext cx="20908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-18"/>
                <a:ea typeface="+mn-ea"/>
                <a:cs typeface="+mn-cs"/>
              </a:rPr>
              <a:t>Am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-18"/>
                <a:ea typeface="+mn-ea"/>
                <a:cs typeface="+mn-cs"/>
              </a:rPr>
              <a:t>modificat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-18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-18"/>
                <a:ea typeface="+mn-ea"/>
                <a:cs typeface="+mn-cs"/>
              </a:rPr>
              <a:t>valoarea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-18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-18"/>
                <a:ea typeface="+mn-ea"/>
                <a:cs typeface="+mn-cs"/>
              </a:rPr>
              <a:t>rezistentei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-18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-18"/>
                <a:ea typeface="+mn-ea"/>
                <a:cs typeface="+mn-cs"/>
              </a:rPr>
              <a:t>si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-18"/>
                <a:ea typeface="+mn-ea"/>
                <a:cs typeface="+mn-cs"/>
              </a:rPr>
              <a:t> a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-18"/>
                <a:ea typeface="+mn-ea"/>
                <a:cs typeface="+mn-cs"/>
              </a:rPr>
              <a:t>capacitatii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 pitchFamily="34" charset="-18"/>
              <a:ea typeface="+mn-ea"/>
              <a:cs typeface="+mn-cs"/>
            </a:endParaRPr>
          </a:p>
        </p:txBody>
      </p:sp>
      <p:sp>
        <p:nvSpPr>
          <p:cNvPr id="26" name="CasetăText 25">
            <a:extLst>
              <a:ext uri="{FF2B5EF4-FFF2-40B4-BE49-F238E27FC236}">
                <a16:creationId xmlns:a16="http://schemas.microsoft.com/office/drawing/2014/main" id="{541E393A-9D83-89D5-4A6A-F08C628DC4CF}"/>
              </a:ext>
            </a:extLst>
          </p:cNvPr>
          <p:cNvSpPr txBox="1"/>
          <p:nvPr/>
        </p:nvSpPr>
        <p:spPr>
          <a:xfrm>
            <a:off x="8788832" y="6153572"/>
            <a:ext cx="34058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200" dirty="0"/>
              <a:t>S-au </a:t>
            </a:r>
            <a:r>
              <a:rPr lang="en-US" altLang="en-US" sz="1200" dirty="0" err="1"/>
              <a:t>recalculat</a:t>
            </a:r>
            <a:r>
              <a:rPr lang="en-US" altLang="en-US" sz="1200" dirty="0"/>
              <a:t> </a:t>
            </a:r>
            <a:r>
              <a:rPr lang="en-US" altLang="en-US" sz="1200" dirty="0" err="1"/>
              <a:t>valorile</a:t>
            </a:r>
            <a:r>
              <a:rPr lang="en-US" altLang="en-US" sz="1200" dirty="0"/>
              <a:t> </a:t>
            </a:r>
            <a:r>
              <a:rPr lang="en-US" altLang="en-US" sz="1200" dirty="0" err="1"/>
              <a:t>pulsatiei</a:t>
            </a:r>
            <a:r>
              <a:rPr lang="en-US" altLang="en-US" sz="1200" dirty="0"/>
              <a:t> </a:t>
            </a:r>
            <a:r>
              <a:rPr lang="en-US" altLang="en-US" sz="1200" dirty="0" err="1"/>
              <a:t>si</a:t>
            </a:r>
            <a:r>
              <a:rPr lang="en-US" altLang="en-US" sz="1200" dirty="0"/>
              <a:t> ale </a:t>
            </a:r>
            <a:r>
              <a:rPr lang="en-US" altLang="en-US" sz="1200" dirty="0" err="1"/>
              <a:t>frecventei</a:t>
            </a:r>
            <a:r>
              <a:rPr lang="en-US" altLang="en-US" sz="1200" dirty="0"/>
              <a:t> </a:t>
            </a:r>
          </a:p>
        </p:txBody>
      </p:sp>
      <p:pic>
        <p:nvPicPr>
          <p:cNvPr id="28" name="Imagine 27" descr="O imagine care conține text, captură de ecran, diagramă, linie&#10;&#10;Descriere generată automat">
            <a:extLst>
              <a:ext uri="{FF2B5EF4-FFF2-40B4-BE49-F238E27FC236}">
                <a16:creationId xmlns:a16="http://schemas.microsoft.com/office/drawing/2014/main" id="{5E307F4F-C33C-E54B-DDC1-69FE02204F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0769" y="1064795"/>
            <a:ext cx="6672975" cy="5205376"/>
          </a:xfrm>
          <a:prstGeom prst="rect">
            <a:avLst/>
          </a:prstGeom>
        </p:spPr>
      </p:pic>
      <p:pic>
        <p:nvPicPr>
          <p:cNvPr id="30" name="Imagine 29" descr="O imagine care conține text, diagramă, captură de ecran, linie&#10;&#10;Descriere generată automat">
            <a:extLst>
              <a:ext uri="{FF2B5EF4-FFF2-40B4-BE49-F238E27FC236}">
                <a16:creationId xmlns:a16="http://schemas.microsoft.com/office/drawing/2014/main" id="{187985BE-B885-37FC-EC4B-392C218017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6" y="1064794"/>
            <a:ext cx="6134093" cy="5205376"/>
          </a:xfrm>
          <a:prstGeom prst="rect">
            <a:avLst/>
          </a:prstGeom>
        </p:spPr>
      </p:pic>
      <p:sp>
        <p:nvSpPr>
          <p:cNvPr id="31" name="Săgeată: jos 30">
            <a:extLst>
              <a:ext uri="{FF2B5EF4-FFF2-40B4-BE49-F238E27FC236}">
                <a16:creationId xmlns:a16="http://schemas.microsoft.com/office/drawing/2014/main" id="{58B9A896-9ECC-42E8-5B16-835823BA5975}"/>
              </a:ext>
            </a:extLst>
          </p:cNvPr>
          <p:cNvSpPr/>
          <p:nvPr/>
        </p:nvSpPr>
        <p:spPr>
          <a:xfrm rot="10800000">
            <a:off x="8256815" y="1777629"/>
            <a:ext cx="359229" cy="4127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2" name="Săgeată: dreapta 31">
            <a:extLst>
              <a:ext uri="{FF2B5EF4-FFF2-40B4-BE49-F238E27FC236}">
                <a16:creationId xmlns:a16="http://schemas.microsoft.com/office/drawing/2014/main" id="{6CDAFC68-F1E0-375A-B28E-F756C024F9C1}"/>
              </a:ext>
            </a:extLst>
          </p:cNvPr>
          <p:cNvSpPr/>
          <p:nvPr/>
        </p:nvSpPr>
        <p:spPr>
          <a:xfrm rot="16200000">
            <a:off x="8033660" y="3163980"/>
            <a:ext cx="532017" cy="6486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3" name="Săgeată: dreapta 32">
            <a:extLst>
              <a:ext uri="{FF2B5EF4-FFF2-40B4-BE49-F238E27FC236}">
                <a16:creationId xmlns:a16="http://schemas.microsoft.com/office/drawing/2014/main" id="{158992D7-811A-0449-A776-792139784BD9}"/>
              </a:ext>
            </a:extLst>
          </p:cNvPr>
          <p:cNvSpPr/>
          <p:nvPr/>
        </p:nvSpPr>
        <p:spPr>
          <a:xfrm rot="10314974">
            <a:off x="8506845" y="5084235"/>
            <a:ext cx="441552" cy="4469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7789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40503A-D615-61F6-FC15-6D37DF1F4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BBAC34-470E-2719-2FE8-26BB05C99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ine 4" descr="O imagine care conține verde, lumină reflectorului&#10;&#10;Descriere generată automat">
            <a:extLst>
              <a:ext uri="{FF2B5EF4-FFF2-40B4-BE49-F238E27FC236}">
                <a16:creationId xmlns:a16="http://schemas.microsoft.com/office/drawing/2014/main" id="{4115AB12-9013-1ECB-5304-F625C0C20F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1" b="216"/>
          <a:stretch/>
        </p:blipFill>
        <p:spPr>
          <a:xfrm>
            <a:off x="20" y="-1"/>
            <a:ext cx="12191980" cy="6857999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C707201F-1189-E6E1-D6BD-06BB15576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9074" y="96485"/>
            <a:ext cx="3537858" cy="57581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rgbClr val="FFFFFF"/>
                </a:solidFill>
                <a:latin typeface="Tw Cen MT" panose="020B0602020104020603" pitchFamily="34" charset="-18"/>
              </a:rPr>
              <a:t> </a:t>
            </a:r>
            <a:r>
              <a:rPr lang="en-GB" sz="4000" dirty="0">
                <a:solidFill>
                  <a:srgbClr val="FFFFFF"/>
                </a:solidFill>
              </a:rPr>
              <a:t> 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82E5463D-9EDB-CED5-69E7-C9E86EAF9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98436" y="455115"/>
            <a:ext cx="12123736" cy="764085"/>
          </a:xfrm>
        </p:spPr>
        <p:txBody>
          <a:bodyPr>
            <a:noAutofit/>
          </a:bodyPr>
          <a:lstStyle/>
          <a:p>
            <a:pPr marL="342900" indent="-342900" defTabSz="1007943" eaLnBrk="1" fontAlgn="auto" hangingPunct="1">
              <a:lnSpc>
                <a:spcPct val="93000"/>
              </a:lnSpc>
              <a:spcBef>
                <a:spcPts val="1102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0" algn="l"/>
                <a:tab pos="112713" algn="l"/>
                <a:tab pos="569913" algn="l"/>
                <a:tab pos="1027113" algn="l"/>
                <a:tab pos="1484313" algn="l"/>
                <a:tab pos="1941513" algn="l"/>
                <a:tab pos="2398713" algn="l"/>
                <a:tab pos="2855913" algn="l"/>
                <a:tab pos="3313113" algn="l"/>
                <a:tab pos="3770313" algn="l"/>
                <a:tab pos="4227513" algn="l"/>
                <a:tab pos="4684713" algn="l"/>
                <a:tab pos="5141913" algn="l"/>
                <a:tab pos="5599113" algn="l"/>
                <a:tab pos="6056313" algn="l"/>
                <a:tab pos="6513513" algn="l"/>
                <a:tab pos="6970713" algn="l"/>
                <a:tab pos="7427913" algn="l"/>
                <a:tab pos="7885113" algn="l"/>
                <a:tab pos="8342313" algn="l"/>
                <a:tab pos="8799513" algn="l"/>
              </a:tabLst>
              <a:defRPr/>
            </a:pPr>
            <a:r>
              <a:rPr lang="en-US" dirty="0" err="1">
                <a:solidFill>
                  <a:srgbClr val="FFFFFF"/>
                </a:solidFill>
                <a:latin typeface="Tw Cen MT" panose="020B0602020104020603" pitchFamily="34" charset="-18"/>
              </a:rPr>
              <a:t>Bibliografie</a:t>
            </a:r>
            <a:endParaRPr lang="ro-RO" dirty="0">
              <a:solidFill>
                <a:srgbClr val="FFFFFF"/>
              </a:solidFill>
              <a:latin typeface="Tw Cen MT" panose="020B0602020104020603" pitchFamily="34" charset="-18"/>
            </a:endParaRP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47282165-FE98-9642-2FC5-1D12544DD5BC}"/>
              </a:ext>
            </a:extLst>
          </p:cNvPr>
          <p:cNvSpPr txBox="1"/>
          <p:nvPr/>
        </p:nvSpPr>
        <p:spPr>
          <a:xfrm>
            <a:off x="1997528" y="1887807"/>
            <a:ext cx="88827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b="0" i="0" u="sng" strike="noStrike" dirty="0">
                <a:solidFill>
                  <a:srgbClr val="AC5B4C"/>
                </a:solidFill>
                <a:effectLst/>
                <a:latin typeface="Arial" panose="020B0604020202020204" pitchFamily="34" charset="0"/>
                <a:hlinkClick r:id="rId3"/>
              </a:rPr>
              <a:t>https://mce.utcluj.ro/igac.html</a:t>
            </a:r>
            <a:endParaRPr lang="en-US" sz="1800" b="0" i="0" u="sng" strike="noStrike" dirty="0">
              <a:solidFill>
                <a:srgbClr val="AC5B4C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o-RO" sz="1800" u="sng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OpenSymbol"/>
                <a:hlinkClick r:id="rId4"/>
              </a:rPr>
              <a:t>http://www.ael.utcluj.ro/beta/?page_id=357&amp;lang=ro</a:t>
            </a:r>
            <a:endParaRPr lang="en-US" sz="1800" u="sng" dirty="0">
              <a:solidFill>
                <a:srgbClr val="00008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OpenSymbo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OpenSymbol"/>
              </a:rPr>
              <a:t>Cursul „Componente și Circuite Electronice Pasive” - prof. dr. ing. Dan Pitica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OpenSymbol"/>
              </a:rPr>
              <a:t>Cursul „Introducere în grafica asistata de calculator” - prof. dr. ing. Adrian </a:t>
            </a:r>
            <a:r>
              <a:rPr lang="ro-RO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OpenSymbol"/>
              </a:rPr>
              <a:t>Taut</a:t>
            </a:r>
            <a:endParaRPr lang="ro-RO" sz="18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OpenSymbol"/>
            </a:endParaRPr>
          </a:p>
          <a:p>
            <a:endParaRPr lang="ro-RO" sz="18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OpenSymbol"/>
            </a:endParaRPr>
          </a:p>
          <a:p>
            <a:endParaRPr lang="ro-RO" dirty="0"/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8F5130C4-B88D-2E99-8416-E10C1C412C45}"/>
              </a:ext>
            </a:extLst>
          </p:cNvPr>
          <p:cNvSpPr txBox="1"/>
          <p:nvPr/>
        </p:nvSpPr>
        <p:spPr>
          <a:xfrm>
            <a:off x="4337957" y="4419600"/>
            <a:ext cx="5230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Va </a:t>
            </a:r>
            <a:r>
              <a:rPr lang="en-US" sz="3600" dirty="0" err="1"/>
              <a:t>multumesc</a:t>
            </a:r>
            <a:r>
              <a:rPr lang="en-US" sz="3600" dirty="0"/>
              <a:t>!</a:t>
            </a:r>
            <a:endParaRPr lang="ro-RO" sz="3600" dirty="0"/>
          </a:p>
        </p:txBody>
      </p:sp>
    </p:spTree>
    <p:extLst>
      <p:ext uri="{BB962C8B-B14F-4D97-AF65-F5344CB8AC3E}">
        <p14:creationId xmlns:p14="http://schemas.microsoft.com/office/powerpoint/2010/main" val="3535026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Microsoft Office PowerPoint</Application>
  <PresentationFormat>Ecran lat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Tw Cen MT</vt:lpstr>
      <vt:lpstr>Temă Office</vt:lpstr>
      <vt:lpstr>Circuit RC  FILTRU TRECE SUS</vt:lpstr>
      <vt:lpstr>Definitie </vt:lpstr>
      <vt:lpstr>STRUCTURA  </vt:lpstr>
      <vt:lpstr>  </vt:lpstr>
      <vt:lpstr>  </vt:lpstr>
      <vt:lpstr>  </vt:lpstr>
      <vt:lpstr>  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Romina Pop</dc:creator>
  <cp:lastModifiedBy>Romina Pop</cp:lastModifiedBy>
  <cp:revision>1</cp:revision>
  <dcterms:created xsi:type="dcterms:W3CDTF">2025-01-21T15:23:10Z</dcterms:created>
  <dcterms:modified xsi:type="dcterms:W3CDTF">2025-01-21T20:30:19Z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2025-01-21T20:30:01Z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b5836282-f710-47bd-ac11-e716cd9cf3b8</vt:lpwstr>
  </property>
  <property fmtid="{D5CDD505-2E9C-101B-9397-08002B2CF9AE}" pid="8" name="MSIP_Label_5b58b62f-6f94-46bd-8089-18e64b0a9abb_ContentBits">
    <vt:lpwstr>0</vt:lpwstr>
  </property>
</Properties>
</file>